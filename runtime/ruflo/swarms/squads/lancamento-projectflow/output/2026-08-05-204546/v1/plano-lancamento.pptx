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Plano de Lançamento ProjectFlow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Preparar o ProjectFlow para conquistar os primeiros clientes pagantes, validando qual segmento percebe maior valor na proposta de transformar dados operacionais em clareza, previsibilidade e decisão.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Escopo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Produto mínimo para piloto: projetos, dashboard executivo, Timeline, riscos, capacidade e relatório financeiro.</a:t>
            </a:r>
          </a:p>
          <a:p>
            <a:pPr>
              <a:spcAft>
                <a:spcPts val="600"/>
              </a:spcAft>
            </a:pPr>
            <a:r>
              <a:t>•  Correção dos fluxos críticos de múltiplos projetos e interpretação dos dados.</a:t>
            </a:r>
          </a:p>
          <a:p>
            <a:pPr>
              <a:spcAft>
                <a:spcPts val="600"/>
              </a:spcAft>
            </a:pPr>
            <a:r>
              <a:t>•  Definição de ICP, oferta de piloto e mensagem de lançamento.</a:t>
            </a:r>
          </a:p>
          <a:p>
            <a:pPr>
              <a:spcAft>
                <a:spcPts val="600"/>
              </a:spcAft>
            </a:pPr>
            <a:r>
              <a:t>•  Landing page e campanha orgânica para LinkedIn e Instagram.</a:t>
            </a:r>
          </a:p>
          <a:p>
            <a:pPr>
              <a:spcAft>
                <a:spcPts val="600"/>
              </a:spcAft>
            </a:pPr>
            <a:r>
              <a:t>•  Instrumentação mínima do funil de aquisição e ativação.</a:t>
            </a:r>
          </a:p>
          <a:p>
            <a:pPr>
              <a:spcAft>
                <a:spcPts val="600"/>
              </a:spcAft>
            </a:pPr>
            <a:r>
              <a:t>•  Processo de suporte, coleta de feedback e decisão comercial.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Não escopo nesta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Mídia paga em escala.</a:t>
            </a:r>
          </a:p>
          <a:p>
            <a:pPr>
              <a:spcAft>
                <a:spcPts val="600"/>
              </a:spcAft>
            </a:pPr>
            <a:r>
              <a:t>•  Automação comercial complexa.</a:t>
            </a:r>
          </a:p>
          <a:p>
            <a:pPr>
              <a:spcAft>
                <a:spcPts val="600"/>
              </a:spcAft>
            </a:pPr>
            <a:r>
              <a:t>•  Publicação automática nas redes sociais.</a:t>
            </a:r>
          </a:p>
          <a:p>
            <a:pPr>
              <a:spcAft>
                <a:spcPts val="600"/>
              </a:spcAft>
            </a:pPr>
            <a:r>
              <a:t>•  Forecast preditivo real antes de haver dados históricos suficientes.</a:t>
            </a:r>
          </a:p>
          <a:p>
            <a:pPr>
              <a:spcAft>
                <a:spcPts val="600"/>
              </a:spcAft>
            </a:pPr>
            <a:r>
              <a:t>•  Expansão simultânea para todos os segmentos e canais.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Dados atuais são predominantemente mockados e devem ser identificados como demonstração.</a:t>
            </a:r>
          </a:p>
          <a:p>
            <a:pPr>
              <a:spcAft>
                <a:spcPts val="600"/>
              </a:spcAft>
            </a:pPr>
            <a:r>
              <a:t>•  Persistência exigida nesta fase: durante a sessão, conforme decisão anterior do usuário.</a:t>
            </a:r>
          </a:p>
          <a:p>
            <a:pPr>
              <a:spcAft>
                <a:spcPts val="600"/>
              </a:spcAft>
            </a:pPr>
            <a:r>
              <a:t>•  Não há evidência registrada de testes moderados com o ICP nem de analytics de ativação em produção.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 comercial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Selecionar 1–2 hipóteses de ICP testáveis.</a:t>
            </a:r>
          </a:p>
          <a:p>
            <a:pPr>
              <a:spcAft>
                <a:spcPts val="600"/>
              </a:spcAft>
            </a:pPr>
            <a:r>
              <a:t>•  Realizar pelo menos 10 entrevistas qualificadas antes de declarar mensagem vencedora.</a:t>
            </a:r>
          </a:p>
          <a:p>
            <a:pPr>
              <a:spcAft>
                <a:spcPts val="600"/>
              </a:spcAft>
            </a:pPr>
            <a:r>
              <a:t>•  Iniciar ao menos um piloto assistido com sponsor, usuários, baseline e critério de conversão.</a:t>
            </a:r>
          </a:p>
          <a:p>
            <a:pPr>
              <a:spcAft>
                <a:spcPts val="600"/>
              </a:spcAft>
            </a:pPr>
            <a:r>
              <a:t>•  Encerrar cada piloto com decisão paga, iteração ou desqualificação documentada.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Ativação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Projeto criado com nome próprio, marcos e responsáveis; usuário visualiza ou compartilha um primeiro insight de prazo, risco ou capacidade e consegue retornar ao projeto durante a sessão.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Qualidade do produto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Zero bloqueio crítico nos fluxos criar projeto, alternar projetos, interpretar dashboard e identificar risco.</a:t>
            </a:r>
          </a:p>
          <a:p>
            <a:pPr>
              <a:spcAft>
                <a:spcPts val="600"/>
              </a:spcAft>
            </a:pPr>
            <a:r>
              <a:t>•  Dados mockados claramente rotulados.</a:t>
            </a:r>
          </a:p>
          <a:p>
            <a:pPr>
              <a:spcAft>
                <a:spcPts val="600"/>
              </a:spcAft>
            </a:pPr>
            <a:r>
              <a:t>•  Estados essenciais de vazio, loading, erro e permissão cobertos quando aplicáveis.</a:t>
            </a:r>
          </a:p>
          <a:p>
            <a:pPr>
              <a:spcAft>
                <a:spcPts val="600"/>
              </a:spcAft>
            </a:pPr>
            <a:r>
              <a:t>•  Critérios WCAG 2.2 AA nos fluxos de lançamento, sem blocker crítico de teclado, foco, semântica, contraste ou leitura de 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Workstreams e responsáveis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28650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Entregável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Dependências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Governança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Charter, roadmap, gates, RAID e decision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Paulo Projetos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decisões do sponsor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Produto/UX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Scorecard, múltiplos projetos, nome dinâmico, clareza e acessibilidade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 Usabilidade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código e critérios de ativação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Marketing/Vendas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ICP, oferta, message house, landing e campanha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G2 e prioridades aprovadas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Qualidade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Revisão independente e recomendação GO/HOLD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Renata Revisão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outputs dos três workstreams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Operação/Suporte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Canal de suporte, SLA e rotina de feedback do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designar antes do 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oferta e fluxo do piloto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Eventos, fonte, período, atualização e funil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designar antes do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definição de ativação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Roadmap: baseline e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28650">
                <a:tc>
                  <a:txBody>
                    <a:bodyPr/>
                    <a:lstStyle/>
                    <a:p>
                      <a:r>
                        <a:t>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Forecast atual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Evidência disponível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M0 — arquitetura do squad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concluído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squad e pipeline validados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concluído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M1 — diagnóstico de prontidão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 + 2 dias úteis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 avaliação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auditoria UX ainda não executada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 andamento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M2 — correções críticas do 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 + 7 dias úteis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múltiplos projetos não implementado; gaps do dashboard pendentes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 risco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M3 — ICP, oferta e campanha aprovados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depende de 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pesquisa e referências disponíveis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bloqueado por dependência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M4 — piloto fechado iniciado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operação e analytics ainda sem 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iniciado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t>M5 — primeira decisão comercial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 dias após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estimado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depende de ativação e prova de 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iniciado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G0 — Tese aprovada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objetivo, hipótese ampla de público, proposta, sponsor e limites registrados.</a:t>
            </a:r>
          </a:p>
          <a:p>
            <a:pPr>
              <a:spcAft>
                <a:spcPts val="600"/>
              </a:spcAft>
            </a:pPr>
            <a:r>
              <a:t>•  Evidências: discovery aprovado; perfil da empresa; pesquisa oficial; investigação Linear, Asana e ClickUp.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Recomendação: 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G1 — Oferta e mensagem prontas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1–2 ICPs; dor e gatilho; piloto com prazo/escopo; prova de valor; CTA; mensagem sem promessa não comprovada.</a:t>
            </a:r>
          </a:p>
          <a:p>
            <a:pPr>
              <a:spcAft>
                <a:spcPts val="600"/>
              </a:spcAft>
            </a:pPr>
            <a:r>
              <a:t>•  Evidências exigidas: entrevistas, hipóteses registradas e campanha produzida por Marina Mercado.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 atual: HOLD, pois ICP e oferta ainda não foram escolhidos.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G2 — Produto pronto para piloto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criar e nomear mais de um projeto; alternar projetos sem perda durante a sessão; dashboard e Timeline coerentes; dados mockados identificados; analytics essenciais; zero blocker crítico de UX/acessibilidade.</a:t>
            </a:r>
          </a:p>
          <a:p>
            <a:pPr>
              <a:spcAft>
                <a:spcPts val="600"/>
              </a:spcAft>
            </a:pPr>
            <a:r>
              <a:t>•  Evidências atuais: dashboard data-driven implementado; título Mockup presente; teste focado do título existente.</a:t>
            </a:r>
          </a:p>
          <a:p>
            <a:pPr>
              <a:spcAft>
                <a:spcPts val="600"/>
              </a:spcAft>
            </a:pPr>
            <a:r>
              <a:t>•  Lacunas observadas: múltiplos projetos não implementado; nome do Gantt ainda hardcoded; gaps de realce de responsável e efeito global do período reportados na revisão anterior; persistência apenas mockada; ausência de evidência de analytics e teste com ICP.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Recomendação: HOLD até auditoria e correções críticas.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G3 — Lançamento autorizado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G1 e G2 aprovados; landing e campanha aprovadas; suporte e dados com owners; contingência; checklist de publicação; dashboard de funil.</a:t>
            </a:r>
          </a:p>
          <a:p>
            <a:pPr>
              <a:spcAft>
                <a:spcPts val="600"/>
              </a:spcAft>
            </a:pPr>
            <a:r>
              <a:t>•  Evidências exigidas: outputs aprovados e revisão independente sem veto.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 atual: HOLD.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G4 — Aprendizado e escala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Critérios: funil por segmento/canal, ativação, win/loss, feedback, retenção inicial e decisão documentada.</a:t>
            </a:r>
          </a:p>
          <a:p>
            <a:pPr>
              <a:spcAft>
                <a:spcPts val="600"/>
              </a:spcAft>
            </a:pPr>
            <a:r>
              <a:t>•  Opções: escalar, iterar, pausar ou encerrar a hipótese.</a:t>
            </a:r>
          </a:p>
          <a:p>
            <a:pPr>
              <a:spcAft>
                <a:spcPts val="600"/>
              </a:spcAft>
            </a:pPr>
            <a:r>
              <a:t>•  Decisor: Ronaldo Mazuhim.</a:t>
            </a:r>
          </a:p>
          <a:p>
            <a:pPr>
              <a:spcAft>
                <a:spcPts val="600"/>
              </a:spcAft>
            </a:pPr>
            <a:r>
              <a:t>•  Recomendação atual: não aplicável antes do piloto.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RAID 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502920">
                <a:tc>
                  <a:txBody>
                    <a:bodyPr/>
                    <a:lstStyle/>
                    <a:p>
                      <a:r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Exposição/impacto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Gatilho/prazo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Mockup ser interpretado como dado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rotular simulações e exibir fonte/período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antes de qualquer peça pública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Timeline não suporta criação/alternância de vários projetos na sessão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crítico para portfólio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 Usabilidade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desenhar correção e aceite; implementar após aprovação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bloquear G2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Nome do Gantt é hardcoded como Mockup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 Usabilidade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ligar cabeçalho ao projeto selecionado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bloquear G2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Dashboard sugerir interação cruzada incompleta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 Usabilidade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validar realce de responsável, limpeza e período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auditoria da etapa 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Mensagem tentar atender público amplo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testar 1–2 ICPs e comparar conversão/ativação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antes de G1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Diretores e PMOs valorizam risco antecipado mais que centralização de tarefas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validar em entrevistas e demos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após 10 entrevistas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Analytics de ativação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designar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especificar e verificar eventos ponta a ponta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antes de G2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t>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Suporte do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 designar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definir canal, SLA e escalonamento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antes de G3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executivo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718457">
                <a:tc>
                  <a:txBody>
                    <a:bodyPr/>
                    <a:lstStyle/>
                    <a:p>
                      <a:r>
                        <a:t>Dimensão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Próxima 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Tese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discovery e pesquisa aprovados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escolher ICP no 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Sponsor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Produto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 risco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dashboard avançou; Timeline tem blockers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concluir auditoria e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Úrsula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aguardando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referências e framework prontos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criar campanha após prioridades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Marina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pronta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owners não definidos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nomear dados e suporte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Sponsor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t>Qualidade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aguardando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rubrica disponível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revisar após campanha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log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1005840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Consequência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---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2026-08-05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Nome anterior da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usar mockup nesta 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simulações devem ser identificadas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2026-08-05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Persistência de projetos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manter durante a sessão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não exigir backend nesta baseline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t>2026-08-05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Squad de lançamento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arquitetura com marketing, PM, UX/UI e revisão aprovada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Ronaldo Mazuhim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 autorizado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Decisão solicitada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t>•  Após a auditoria UX/UI, aprovar no checkpoint:</a:t>
            </a:r>
          </a:p>
          <a:p>
            <a:pPr>
              <a:spcAft>
                <a:spcPts val="600"/>
              </a:spcAft>
            </a:pPr>
            <a:r>
              <a:t>1.  CONDITIONAL GO para preparar um piloto fechado, condicionado às correções críticas de Timeline, nome dinâmico, clareza dos mockups e validação do dashboard.</a:t>
            </a:r>
          </a:p>
          <a:p>
            <a:pPr>
              <a:spcAft>
                <a:spcPts val="600"/>
              </a:spcAft>
            </a:pPr>
            <a:r>
              <a:t>1.  Priorizar inicialmente PMOs/diretores de operações de empresas com múltiplos projetos ativos como hipótese de ICP, mantendo uma segunda hipótese somente se houver acesso real a entrevistas.</a:t>
            </a:r>
          </a:p>
          <a:p>
            <a:pPr>
              <a:spcAft>
                <a:spcPts val="600"/>
              </a:spcAft>
            </a:pPr>
            <a:r>
              <a:t>1.  Nomear responsáveis por analytics e suporte antes do G3.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