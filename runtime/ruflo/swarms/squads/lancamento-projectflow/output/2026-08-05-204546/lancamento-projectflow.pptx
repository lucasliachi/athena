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ProjectFlow - Pacote de Lancamento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Plano de lancamento, campanha multicanal e decisao GO/NO-GO</a:t>
            </a:r>
          </a:p>
          <a:p>
            <a:r>
              <a:t>2026-08-06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t>1. Plano de Lancamento ProjectFlow</a:t>
            </a:r>
          </a:p>
          <a:p>
            <a:pPr>
              <a:spcAft>
                <a:spcPts val="800"/>
              </a:spcAft>
            </a:pPr>
            <a:r>
              <a:t>2. Campanha de Lancamento (multicanal)</a:t>
            </a:r>
          </a:p>
          <a:p>
            <a:pPr>
              <a:spcAft>
                <a:spcPts val="800"/>
              </a:spcAft>
            </a:pPr>
            <a:r>
              <a:t>3. Campanha aprovada</a:t>
            </a:r>
          </a:p>
          <a:p>
            <a:pPr>
              <a:spcAft>
                <a:spcPts val="800"/>
              </a:spcAft>
            </a:pPr>
            <a:r>
              <a:t>4. Revisao Final (prontidao e qualidade)</a:t>
            </a:r>
          </a:p>
          <a:p>
            <a:pPr>
              <a:spcAft>
                <a:spcPts val="800"/>
              </a:spcAft>
            </a:pPr>
            <a:r>
              <a:t>5. Decisao Final GO/NO-GO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Plano de Lançamento ProjectFlow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Plano de Lançamento ProjectFlow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Atualizado em: 2026-08-05  </a:t>
            </a:r>
          </a:p>
          <a:p>
            <a:pPr>
              <a:spcAft>
                <a:spcPts val="600"/>
              </a:spcAft>
            </a:pPr>
            <a:r>
              <a:t>•  Sponsor e decisor final: Ronaldo Mazuhim  </a:t>
            </a:r>
          </a:p>
          <a:p>
            <a:pPr>
              <a:spcAft>
                <a:spcPts val="600"/>
              </a:spcAft>
            </a:pPr>
            <a:r>
              <a:t>•  Status recomendado: HOLD para lançamento público e CONDITIONAL GO para preparação de piloto fechado.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Preparar o ProjectFlow para conquistar os primeiros clientes pagantes, validando qual segmento percebe maior valor na proposta de transformar dados operacionais em clareza, previsibilidade e decisão.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Escopo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Produto mínimo para piloto: projetos, dashboard executivo, Timeline, riscos, capacidade e relatório financeiro.</a:t>
            </a:r>
          </a:p>
          <a:p>
            <a:pPr>
              <a:spcAft>
                <a:spcPts val="600"/>
              </a:spcAft>
            </a:pPr>
            <a:r>
              <a:t>•  Correção dos fluxos críticos de múltiplos projetos e interpretação dos dados.</a:t>
            </a:r>
          </a:p>
          <a:p>
            <a:pPr>
              <a:spcAft>
                <a:spcPts val="600"/>
              </a:spcAft>
            </a:pPr>
            <a:r>
              <a:t>•  Definição de ICP, oferta de piloto e mensagem de lançamento.</a:t>
            </a:r>
          </a:p>
          <a:p>
            <a:pPr>
              <a:spcAft>
                <a:spcPts val="600"/>
              </a:spcAft>
            </a:pPr>
            <a:r>
              <a:t>•  Landing page e campanha orgânica para LinkedIn e Instagram.</a:t>
            </a:r>
          </a:p>
          <a:p>
            <a:pPr>
              <a:spcAft>
                <a:spcPts val="600"/>
              </a:spcAft>
            </a:pPr>
            <a:r>
              <a:t>•  Instrumentação mínima do funil de aquisição e ativação.</a:t>
            </a:r>
          </a:p>
          <a:p>
            <a:pPr>
              <a:spcAft>
                <a:spcPts val="600"/>
              </a:spcAft>
            </a:pPr>
            <a:r>
              <a:t>•  Processo de suporte, coleta de feedback e decisão comercial.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Não escopo nesta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Mídia paga em escala.</a:t>
            </a:r>
          </a:p>
          <a:p>
            <a:pPr>
              <a:spcAft>
                <a:spcPts val="600"/>
              </a:spcAft>
            </a:pPr>
            <a:r>
              <a:t>•  Automação comercial complexa.</a:t>
            </a:r>
          </a:p>
          <a:p>
            <a:pPr>
              <a:spcAft>
                <a:spcPts val="600"/>
              </a:spcAft>
            </a:pPr>
            <a:r>
              <a:t>•  Publicação automática nas redes sociais.</a:t>
            </a:r>
          </a:p>
          <a:p>
            <a:pPr>
              <a:spcAft>
                <a:spcPts val="600"/>
              </a:spcAft>
            </a:pPr>
            <a:r>
              <a:t>•  Forecast preditivo real antes de haver dados históricos suficientes.</a:t>
            </a:r>
          </a:p>
          <a:p>
            <a:pPr>
              <a:spcAft>
                <a:spcPts val="600"/>
              </a:spcAft>
            </a:pPr>
            <a:r>
              <a:t>•  Expansão simultânea para todos os segmentos e canais.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Dados atuais são predominantemente mockados e devem ser identificados como demonstração.</a:t>
            </a:r>
          </a:p>
          <a:p>
            <a:pPr>
              <a:spcAft>
                <a:spcPts val="600"/>
              </a:spcAft>
            </a:pPr>
            <a:r>
              <a:t>•  Persistência exigida nesta fase: durante a sessão, conforme decisão anterior do usuário.</a:t>
            </a:r>
          </a:p>
          <a:p>
            <a:pPr>
              <a:spcAft>
                <a:spcPts val="600"/>
              </a:spcAft>
            </a:pPr>
            <a:r>
              <a:t>•  Não há evidência registrada de testes moderados com o ICP nem de analytics de ativação em produção.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 comercial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Selecionar 1–2 hipóteses de ICP testáveis.</a:t>
            </a:r>
          </a:p>
          <a:p>
            <a:pPr>
              <a:spcAft>
                <a:spcPts val="600"/>
              </a:spcAft>
            </a:pPr>
            <a:r>
              <a:t>•  Realizar pelo menos 10 entrevistas qualificadas antes de declarar mensagem vencedora.</a:t>
            </a:r>
          </a:p>
          <a:p>
            <a:pPr>
              <a:spcAft>
                <a:spcPts val="600"/>
              </a:spcAft>
            </a:pPr>
            <a:r>
              <a:t>•  Iniciar ao menos um piloto assistido com sponsor, usuários, baseline e critério de conversão.</a:t>
            </a:r>
          </a:p>
          <a:p>
            <a:pPr>
              <a:spcAft>
                <a:spcPts val="600"/>
              </a:spcAft>
            </a:pPr>
            <a:r>
              <a:t>•  Encerrar cada piloto com decisão paga, iteração ou desqualificação documentada.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Ativação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Projeto criado com nome próprio, marcos e responsáveis; usuário visualiza ou compartilha um primeiro insight de prazo, risco ou capacidade e consegue retornar ao projeto durante a sessão.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Qualidade do produto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Zero bloqueio crítico nos fluxos criar projeto, alternar projetos, interpretar dashboard e identificar risco.</a:t>
            </a:r>
          </a:p>
          <a:p>
            <a:pPr>
              <a:spcAft>
                <a:spcPts val="600"/>
              </a:spcAft>
            </a:pPr>
            <a:r>
              <a:t>•  Dados mockados claramente rotulados.</a:t>
            </a:r>
          </a:p>
          <a:p>
            <a:pPr>
              <a:spcAft>
                <a:spcPts val="600"/>
              </a:spcAft>
            </a:pPr>
            <a:r>
              <a:t>•  Estados essenciais de vazio, loading, erro e permissão cobertos quando aplicáveis.</a:t>
            </a:r>
          </a:p>
          <a:p>
            <a:pPr>
              <a:spcAft>
                <a:spcPts val="600"/>
              </a:spcAft>
            </a:pPr>
            <a:r>
              <a:t>•  Critérios WCAG 2.2 AA nos fluxos de lançamento, sem blocker crítico de teclado, foco, semântica, contraste ou leitura de status.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Workstreams e responsáveis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628650">
                <a:tc>
                  <a:txBody>
                    <a:bodyPr/>
                    <a:lstStyle/>
                    <a:p>
                      <a:r>
                        <a:t>Workstream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Entregável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Accountable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Dependências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Governança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Charter, roadmap, gates, RAID e decision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Paulo Projetos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decisões do sponsor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Produto/UX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Scorecard, múltiplos projetos, nome dinâmico, clareza e acessibilidade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Úrsula Usabilidade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código e critérios de ativação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Marketing/Vendas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ICP, oferta, message house, landing e campanha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G2 e prioridades aprovadas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Qualidade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Revisão independente e recomendação GO/HOLD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Renata Revisão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outputs dos três workstreams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Operação/Suporte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Canal de suporte, SLA e rotina de feedback do piloto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designar antes do G3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oferta e fluxo do piloto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Eventos, fonte, período, atualização e funil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designar antes do 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definição de ativação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Roadmap: baseline e forecast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628650">
                <a:tc>
                  <a:txBody>
                    <a:bodyPr/>
                    <a:lstStyle/>
                    <a:p>
                      <a:r>
                        <a:t>Marco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Forecast atual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Evidência disponível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M0 — arquitetura do squad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concluído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squad e pipeline validados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concluído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M1 — diagnóstico de prontidão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T0 + 2 dias úteis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 avaliação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auditoria UX ainda não executada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 andamento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M2 — correções críticas do 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T0 + 7 dias úteis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incerto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múltiplos projetos não implementado; gaps do dashboard pendentes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 risco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M3 — ICP, oferta e campanha aprovados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após 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depende de 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pesquisa e referências disponíveis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bloqueado por dependência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M4 — piloto fechado iniciado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após G3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não estimado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operação e analytics ainda sem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não iniciado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M5 — primeira decisão comercial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 dias após piloto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não estimado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depende de ativação e prova de 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não iniciado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G0 — Tese aprovada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Critérios: objetivo, hipótese ampla de público, proposta, sponsor e limites registrados.</a:t>
            </a:r>
          </a:p>
          <a:p>
            <a:pPr>
              <a:spcAft>
                <a:spcPts val="600"/>
              </a:spcAft>
            </a:pPr>
            <a:r>
              <a:t>•  Evidências: discovery aprovado; perfil da empresa; pesquisa oficial; investigação Linear, Asana e ClickUp.</a:t>
            </a:r>
          </a:p>
          <a:p>
            <a:pPr>
              <a:spcAft>
                <a:spcPts val="600"/>
              </a:spcAft>
            </a:pPr>
            <a:r>
              <a:t>•  Decisor: Ronaldo Mazuhim.</a:t>
            </a:r>
          </a:p>
          <a:p>
            <a:pPr>
              <a:spcAft>
                <a:spcPts val="600"/>
              </a:spcAft>
            </a:pPr>
            <a:r>
              <a:t>•  Recomendação: GO.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G1 — Oferta e mensagem prontas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Critérios: 1–2 ICPs; dor e gatilho; piloto com prazo/escopo; prova de valor; CTA; mensagem sem promessa não comprovada.</a:t>
            </a:r>
          </a:p>
          <a:p>
            <a:pPr>
              <a:spcAft>
                <a:spcPts val="600"/>
              </a:spcAft>
            </a:pPr>
            <a:r>
              <a:t>•  Evidências exigidas: entrevistas, hipóteses registradas e campanha produzida por Marina Mercado.</a:t>
            </a:r>
          </a:p>
          <a:p>
            <a:pPr>
              <a:spcAft>
                <a:spcPts val="600"/>
              </a:spcAft>
            </a:pPr>
            <a:r>
              <a:t>•  Decisor: Ronaldo Mazuhim.</a:t>
            </a:r>
          </a:p>
          <a:p>
            <a:pPr>
              <a:spcAft>
                <a:spcPts val="600"/>
              </a:spcAft>
            </a:pPr>
            <a:r>
              <a:t>•  Recomendação atual: HOLD, pois ICP e oferta ainda não foram escolhidos.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G2 — Produto pronto para piloto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Critérios: criar e nomear mais de um projeto; alternar projetos sem perda durante a sessão; dashboard e Timeline coerentes; dados mockados identificados; analytics essenciais; zero blocker crítico de UX/acessibilidade.</a:t>
            </a:r>
          </a:p>
          <a:p>
            <a:pPr>
              <a:spcAft>
                <a:spcPts val="600"/>
              </a:spcAft>
            </a:pPr>
            <a:r>
              <a:t>•  Evidências atuais: dashboard data-driven implementado; título Mockup presente; teste focado do título existente.</a:t>
            </a:r>
          </a:p>
          <a:p>
            <a:pPr>
              <a:spcAft>
                <a:spcPts val="600"/>
              </a:spcAft>
            </a:pPr>
            <a:r>
              <a:t>•  Lacunas observadas: múltiplos projetos não implementado; nome do Gantt ainda hardcoded; gaps de realce de responsável e efeito global do período reportados na revisão anterior; persistência apenas mockada; ausência de evidência de analytics e teste com ICP.</a:t>
            </a:r>
          </a:p>
          <a:p>
            <a:pPr>
              <a:spcAft>
                <a:spcPts val="600"/>
              </a:spcAft>
            </a:pPr>
            <a:r>
              <a:t>•  Decisor: Ronaldo Mazuhim.</a:t>
            </a:r>
          </a:p>
          <a:p>
            <a:pPr>
              <a:spcAft>
                <a:spcPts val="600"/>
              </a:spcAft>
            </a:pPr>
            <a:r>
              <a:t>•  Recomendação: HOLD até auditoria e correções críticas.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G3 — Lançamento autorizado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Critérios: G1 e G2 aprovados; landing e campanha aprovadas; suporte e dados com owners; contingência; checklist de publicação; dashboard de funil.</a:t>
            </a:r>
          </a:p>
          <a:p>
            <a:pPr>
              <a:spcAft>
                <a:spcPts val="600"/>
              </a:spcAft>
            </a:pPr>
            <a:r>
              <a:t>•  Evidências exigidas: outputs aprovados e revisão independente sem veto.</a:t>
            </a:r>
          </a:p>
          <a:p>
            <a:pPr>
              <a:spcAft>
                <a:spcPts val="600"/>
              </a:spcAft>
            </a:pPr>
            <a:r>
              <a:t>•  Decisor: Ronaldo Mazuhim.</a:t>
            </a:r>
          </a:p>
          <a:p>
            <a:pPr>
              <a:spcAft>
                <a:spcPts val="600"/>
              </a:spcAft>
            </a:pPr>
            <a:r>
              <a:t>•  Recomendação atual: HOLD.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G4 — Aprendizado e escala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Critérios: funil por segmento/canal, ativação, win/loss, feedback, retenção inicial e decisão documentada.</a:t>
            </a:r>
          </a:p>
          <a:p>
            <a:pPr>
              <a:spcAft>
                <a:spcPts val="600"/>
              </a:spcAft>
            </a:pPr>
            <a:r>
              <a:t>•  Opções: escalar, iterar, pausar ou encerrar a hipótese.</a:t>
            </a:r>
          </a:p>
          <a:p>
            <a:pPr>
              <a:spcAft>
                <a:spcPts val="600"/>
              </a:spcAft>
            </a:pPr>
            <a:r>
              <a:t>•  Decisor: Ronaldo Mazuhim.</a:t>
            </a:r>
          </a:p>
          <a:p>
            <a:pPr>
              <a:spcAft>
                <a:spcPts val="600"/>
              </a:spcAft>
            </a:pPr>
            <a:r>
              <a:t>•  Recomendação atual: não aplicável antes do piloto.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RAID log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49"/>
              </a:tblGrid>
              <a:tr h="502920">
                <a:tc>
                  <a:txBody>
                    <a:bodyPr/>
                    <a:lstStyle/>
                    <a:p>
                      <a:r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Exposição/impacto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Gatilho/prazo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Mockup ser interpretado como dado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rotular simulações e exibir fonte/período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antes de qualquer peça pública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Timeline não suporta criação/alternância de vários projetos na sessão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crítico para portfólio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Úrsula Usabilidade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desenhar correção e aceite; implementar após aprovação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bloquear G2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Nome do Gantt é hardcoded como Mockup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Úrsula Usabilidade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ligar cabeçalho ao projeto selecionado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bloquear G2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Dashboard sugerir interação cruzada incompleta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Úrsula Usabilidade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validar realce de responsável, limpeza e período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auditoria da etapa 2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Mensagem tentar atender público amplo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testar 1–2 ICPs e comparar conversão/ativação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antes de G1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Assumption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Diretores e PMOs valorizam risco antecipado mais que centralização de tarefas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validar em entrevistas e demos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após 10 entrevistas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Analytics de ativação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designar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especificar e verificar eventos ponta a ponta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antes de G2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Suporte do piloto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designar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definir canal, SLA e escalonamento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antes de G3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executivo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718457">
                <a:tc>
                  <a:txBody>
                    <a:bodyPr/>
                    <a:lstStyle/>
                    <a:p>
                      <a:r>
                        <a:t>Dimensão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Evidência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Próxima 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t>Tese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discovery e pesquisa aprovados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escolher ICP no checkpoint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Sponsor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t>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 risco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dashboard avançou; Timeline tem blockers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concluir auditoria e backlog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Úrsula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aguardando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referências e framework prontos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criar campanha após prioridades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t>Operação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não pronta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owners não definidos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nomear dados e suporte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Sponsor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r>
                        <a:t>Qualidade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aguardando 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rubrica disponível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revisar após campanha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Renata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log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1005840">
                <a:tc>
                  <a:txBody>
                    <a:bodyPr/>
                    <a:lstStyle/>
                    <a:p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Contexto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Decisão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Consequência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2026-08-05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Nome anterior da 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usar mockup nesta fase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simulações devem ser identificadas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2026-08-05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Persistência de projetos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manter durante a sessão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não exigir backend nesta baseline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2026-08-05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Squad de lançamento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arquitetura com marketing, PM, UX/UI e revisão aprovada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pipeline autorizado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Decisão solicitada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Após a auditoria UX/UI, aprovar no checkpoint:</a:t>
            </a:r>
          </a:p>
          <a:p>
            <a:pPr>
              <a:spcAft>
                <a:spcPts val="600"/>
              </a:spcAft>
            </a:pPr>
            <a:r>
              <a:t>•  CONDITIONAL GO para preparar um piloto fechado, condicionado às correções críticas de Timeline, nome dinâmico, clareza dos mockups e validação do dashboard.</a:t>
            </a:r>
          </a:p>
          <a:p>
            <a:pPr>
              <a:spcAft>
                <a:spcPts val="600"/>
              </a:spcAft>
            </a:pPr>
            <a:r>
              <a:t>•  Priorizar inicialmente PMOs/diretores de operações de empresas com múltiplos projetos ativos como hipótese de ICP, mantendo uma segunda hipótese somente se houver acesso real a entrevistas.</a:t>
            </a:r>
          </a:p>
          <a:p>
            <a:pPr>
              <a:spcAft>
                <a:spcPts val="600"/>
              </a:spcAft>
            </a:pPr>
            <a:r>
              <a:t>•  Nomear responsáveis por analytics e suporte antes do G3.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Campanha de Lançamento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Campanha de Lançamento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Preparada em: 2026-08-06 · Condição do gate: campanha pronta, mas pausada até a especificação da página de acompanhamento de atividades e a reavaliação da prontidão do produto (decisão do sponsor em 2026-08-05).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Tom escolhido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Provocativo responsável — desafia a crença de que "status resolve previsibilidade" sem exagerar evidências. Usa tensão concreta (atraso caro, reunião de emergência) e conduz para a decisão. Não promete números de clientes nem resultados garantidos.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Hipótese 1 — PMO / Diretores de operações (prioritária)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Segmento: empresas de serviços com 5–30 projetos ativos.</a:t>
            </a:r>
          </a:p>
          <a:p>
            <a:pPr>
              <a:spcAft>
                <a:spcPts val="600"/>
              </a:spcAft>
            </a:pPr>
            <a:r>
              <a:t>•  Comprador: diretor de operações ou gestor de PMO.</a:t>
            </a:r>
          </a:p>
          <a:p>
            <a:pPr>
              <a:spcAft>
                <a:spcPts val="600"/>
              </a:spcAft>
            </a:pPr>
            <a:r>
              <a:t>•  Usuário: gerentes de projeto e líderes de portfólio.</a:t>
            </a:r>
          </a:p>
          <a:p>
            <a:pPr>
              <a:spcAft>
                <a:spcPts val="600"/>
              </a:spcAft>
            </a:pPr>
            <a:r>
              <a:t>•  Gatilho: reunião executiva depende de consolidação manual de status.</a:t>
            </a:r>
          </a:p>
          <a:p>
            <a:pPr>
              <a:spcAft>
                <a:spcPts val="600"/>
              </a:spcAft>
            </a:pPr>
            <a:r>
              <a:t>•  Dor: risco aparece tarde; capacidade é realocada por percepção, não por dado.</a:t>
            </a:r>
          </a:p>
          <a:p>
            <a:pPr>
              <a:spcAft>
                <a:spcPts val="600"/>
              </a:spcAft>
            </a:pPr>
            <a:r>
              <a:t>•  Alternativa atual: planilhas, reuniões semanais e retrabalho de consolidação.</a:t>
            </a:r>
          </a:p>
          <a:p>
            <a:pPr>
              <a:spcAft>
                <a:spcPts val="600"/>
              </a:spcAft>
            </a:pPr>
            <a:r>
              <a:t>•  Desqualificação: equipe sem rotina mínima de atualização de projetos; ausência de interesse em previsibilidade (prefere "apagar incêndio").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Hipótese 2 — Segunda hipótese (somente com acesso a entrevistas)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Diretorias de operações de empresas de serviço com poucos (1–4) projetos críticos, onde um único desvio impacta o trimestre. Validar em paralelo apenas se houver acesso real a entrevistas; caso contrário, descartar.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Proposta de valor e oferta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Promessa: transformar dados dos projetos em clareza, previsibilidade e decisão — saber qual projeto exige ação primeiro, antes de virar reunião de emergência.</a:t>
            </a:r>
          </a:p>
          <a:p>
            <a:pPr>
              <a:spcAft>
                <a:spcPts val="600"/>
              </a:spcAft>
            </a:pPr>
            <a:r>
              <a:t>•  Mecanismo: prazo, risco e capacidade na mesma leitura; alertas de risco com impacto e responsável; comparação com baseline sem reescrita histórica.</a:t>
            </a:r>
          </a:p>
          <a:p>
            <a:pPr>
              <a:spcAft>
                <a:spcPts val="600"/>
              </a:spcAft>
            </a:pPr>
            <a:r>
              <a:t>•  Prova: demo guiada com dados de mockup identificados; evidência de uma decisão antecipada documentada no piloto.</a:t>
            </a:r>
          </a:p>
          <a:p>
            <a:pPr>
              <a:spcAft>
                <a:spcPts val="600"/>
              </a:spcAft>
            </a:pPr>
            <a:r>
              <a:t>•  Oferta inicial: piloto assistido de 21 dias com um portfólio real. Prova de valor: identificar ao menos uma decisão antecipada de prazo, risco ou capacidade.</a:t>
            </a:r>
          </a:p>
          <a:p>
            <a:pPr>
              <a:spcAft>
                <a:spcPts val="600"/>
              </a:spcAft>
            </a:pPr>
            <a:r>
              <a:t>•  CTA principal: solicitar o diagnóstico do portfólio.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Message house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558800">
                <a:tc>
                  <a:txBody>
                    <a:bodyPr/>
                    <a:lstStyle/>
                    <a:p>
                      <a:r>
                        <a:t>Nível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Mensagem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Quem somos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ProjectFlow — clareza, previsibilidade e decisão na gestão de projetos.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O que fazemos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Transformamos os dados operacionais dos seus projetos em uma leitura executiva de prazo, risco e capacidade.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Por que acreditar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Uma tela, um cenário e uma decisão por conteúdo; mockups identificados; prova via piloto assistido.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Benefício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Saiba hoje qual projeto exige ação primeiro.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Benefício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Identifique dependências críticas antes do desvio.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Benefício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Realoque responsáveis com base em dado, não em percepção.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Objeção a responder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"Já tenho status." → Status mostra o presente; previsibilidade mostra onde agir.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Landing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Headline: Você descobre que o projeto atrasou quando o atraso já ficou caro.</a:t>
            </a:r>
          </a:p>
          <a:p>
            <a:pPr>
              <a:spcAft>
                <a:spcPts val="600"/>
              </a:spcAft>
            </a:pPr>
            <a:r>
              <a:t>•  Subheadline: ProjectFlow transforma prazo, risco e capacidade em uma única leitura — para você decidir antes da reunião de emergência.</a:t>
            </a:r>
          </a:p>
          <a:p>
            <a:pPr>
              <a:spcAft>
                <a:spcPts val="600"/>
              </a:spcAft>
            </a:pPr>
            <a:r>
              <a:t>•  Bloco de prova: tela do dashboard (dados de mockup rotulados) com três elementos destacados: (1) projeto que exige ação primeiro, (2) dependência crítica, (3) responsável a realocar.</a:t>
            </a:r>
          </a:p>
          <a:p>
            <a:pPr>
              <a:spcAft>
                <a:spcPts val="600"/>
              </a:spcAft>
            </a:pPr>
            <a:r>
              <a:t>•  Seção "Como funciona": 3 passos — conecte seus projetos, leia prazo/risco/capacidade, decida com evidência.</a:t>
            </a:r>
          </a:p>
          <a:p>
            <a:pPr>
              <a:spcAft>
                <a:spcPts val="600"/>
              </a:spcAft>
            </a:pPr>
            <a:r>
              <a:t>•  Oferta: piloto assistido de 21 dias com diagnóstico do seu portfólio real.</a:t>
            </a:r>
          </a:p>
          <a:p>
            <a:pPr>
              <a:spcAft>
                <a:spcPts val="600"/>
              </a:spcAft>
            </a:pPr>
            <a:r>
              <a:t>•  CTA único: Solicitar diagnóstico do portfólio.</a:t>
            </a:r>
          </a:p>
          <a:p>
            <a:pPr>
              <a:spcAft>
                <a:spcPts val="600"/>
              </a:spcAft>
            </a:pPr>
            <a:r>
              <a:t>•  Nota de transparência: As telas exibem dados de demonstração (mockup). A decisão, porém, é real: agir antes ou explicar depois.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LinkedIn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Hook: Você descobre que o projeto atrasou quando o atraso já ficou caro.</a:t>
            </a:r>
          </a:p>
          <a:p>
            <a:pPr>
              <a:spcAft>
                <a:spcPts val="600"/>
              </a:spcAft>
            </a:pPr>
            <a:r>
              <a:t>•  Corpo:</a:t>
            </a:r>
          </a:p>
          <a:p>
            <a:pPr lvl="1">
              <a:spcAft>
                <a:spcPts val="600"/>
              </a:spcAft>
            </a:pPr>
            <a:r>
              <a:t>•  O problema não é falta de status. É falta de previsibilidade.</a:t>
            </a:r>
          </a:p>
          <a:p>
            <a:pPr lvl="1">
              <a:spcAft>
                <a:spcPts val="600"/>
              </a:spcAft>
            </a:pPr>
            <a:r>
              <a:t>•  Status mostra o presente. Previsibilidade mostra onde agir.</a:t>
            </a:r>
          </a:p>
          <a:p>
            <a:pPr lvl="1">
              <a:spcAft>
                <a:spcPts val="600"/>
              </a:spcAft>
            </a:pPr>
            <a:r>
              <a:t>•  No ProjectFlow, prazo, risco e capacidade aparecem na mesma leitura:</a:t>
            </a:r>
          </a:p>
          <a:p>
            <a:pPr lvl="2">
              <a:spcAft>
                <a:spcPts val="600"/>
              </a:spcAft>
            </a:pPr>
            <a:r>
              <a:t>•  Qual projeto exige ação primeiro.</a:t>
            </a:r>
          </a:p>
          <a:p>
            <a:pPr lvl="2">
              <a:spcAft>
                <a:spcPts val="600"/>
              </a:spcAft>
            </a:pPr>
            <a:r>
              <a:t>•  Onde existe dependência crítica.</a:t>
            </a:r>
          </a:p>
          <a:p>
            <a:pPr lvl="2">
              <a:spcAft>
                <a:spcPts val="600"/>
              </a:spcAft>
            </a:pPr>
            <a:r>
              <a:t>•  Quem precisa ser realocado antes do desvio.</a:t>
            </a:r>
          </a:p>
          <a:p>
            <a:pPr lvl="1">
              <a:spcAft>
                <a:spcPts val="600"/>
              </a:spcAft>
            </a:pPr>
            <a:r>
              <a:t>•  O cenário mostrado é um mockup de demonstração. A decisão, porém, é real: agir antes ou explicar depois.</a:t>
            </a:r>
          </a:p>
          <a:p>
            <a:pPr>
              <a:spcAft>
                <a:spcPts val="600"/>
              </a:spcAft>
            </a:pPr>
            <a:r>
              <a:t>•  CTA único: Qual informação falta hoje na sua reunião de portfólio? (respostas geram conversa qualificada)</a:t>
            </a:r>
          </a:p>
          <a:p>
            <a:pPr>
              <a:spcAft>
                <a:spcPts val="600"/>
              </a:spcAft>
            </a:pPr>
            <a:r>
              <a:t>•  Hashtags: #GestãoDeProjetos #PMO #Previsibilidade #SaaS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Instagram Feed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Copy: O atraso não começa quando a barra fica vermelha. Começa quando ninguém consegue ver o desvio chegando. (1ª linha — tensão concreta)</a:t>
            </a:r>
          </a:p>
          <a:p>
            <a:pPr lvl="1">
              <a:spcAft>
                <a:spcPts val="600"/>
              </a:spcAft>
            </a:pPr>
            <a:r>
              <a:t>•  Prazo, risco e capacidade na mesma leitura.</a:t>
            </a:r>
          </a:p>
          <a:p>
            <a:pPr lvl="1">
              <a:spcAft>
                <a:spcPts val="600"/>
              </a:spcAft>
            </a:pPr>
            <a:r>
              <a:t>•  Dependência crítica identificada antes do impacto.</a:t>
            </a:r>
          </a:p>
          <a:p>
            <a:pPr lvl="1">
              <a:spcAft>
                <a:spcPts val="600"/>
              </a:spcAft>
            </a:pPr>
            <a:r>
              <a:t>•  Responsável realocado por dado, não por percepção.</a:t>
            </a:r>
          </a:p>
          <a:p>
            <a:pPr lvl="1">
              <a:spcAft>
                <a:spcPts val="600"/>
              </a:spcAft>
            </a:pPr>
            <a:r>
              <a:t>•  Tela de demonstração (mockup) identificada na imagem.</a:t>
            </a:r>
          </a:p>
          <a:p>
            <a:pPr>
              <a:spcAft>
                <a:spcPts val="600"/>
              </a:spcAft>
            </a:pPr>
            <a:r>
              <a:t>•  CTA único: Salve este post para a sua próxima reunião de portfólio.</a:t>
            </a:r>
          </a:p>
          <a:p>
            <a:pPr>
              <a:spcAft>
                <a:spcPts val="600"/>
              </a:spcAft>
            </a:pPr>
            <a:r>
              <a:t>•  Formato nativo: imagem com 1 tela + 3 bullets; legendas escaneáveis; sem texto longo na imagem.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Instagram Reels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Roteiro (23 s):</a:t>
            </a:r>
          </a:p>
          <a:p>
            <a:pPr lvl="1">
              <a:spcAft>
                <a:spcPts val="600"/>
              </a:spcAft>
            </a:pPr>
            <a:r>
              <a:t>•  0–2 s: dashboard com alerta. Texto na tela: "O atraso começou antes desta barra ficar vermelha."</a:t>
            </a:r>
          </a:p>
          <a:p>
            <a:pPr lvl="1">
              <a:spcAft>
                <a:spcPts val="600"/>
              </a:spcAft>
            </a:pPr>
            <a:r>
              <a:t>•  2–8 s: zoom na tendência. Fala: "Status mostra o presente. Previsibilidade mostra onde agir."</a:t>
            </a:r>
          </a:p>
          <a:p>
            <a:pPr lvl="1">
              <a:spcAft>
                <a:spcPts val="600"/>
              </a:spcAft>
            </a:pPr>
            <a:r>
              <a:t>•  8–15 s: alternância entre risco, capacidade e forecast com legendas curtas.</a:t>
            </a:r>
          </a:p>
          <a:p>
            <a:pPr lvl="1">
              <a:spcAft>
                <a:spcPts val="600"/>
              </a:spcAft>
            </a:pPr>
            <a:r>
              <a:t>•  15–21 s: uma decisão: realocar responsável e revisar marco.</a:t>
            </a:r>
          </a:p>
          <a:p>
            <a:pPr lvl="1">
              <a:spcAft>
                <a:spcPts val="600"/>
              </a:spcAft>
            </a:pPr>
            <a:r>
              <a:t>•  21–23 s: tela final. Fala: "ProjectFlow. Clareza, previsibilidade e decisão."</a:t>
            </a:r>
          </a:p>
          <a:p>
            <a:pPr>
              <a:spcAft>
                <a:spcPts val="600"/>
              </a:spcAft>
            </a:pPr>
            <a:r>
              <a:t>•  CTA único: Comente DEMO para acompanhar o piloto.</a:t>
            </a:r>
          </a:p>
          <a:p>
            <a:pPr>
              <a:spcAft>
                <a:spcPts val="600"/>
              </a:spcAft>
            </a:pPr>
            <a:r>
              <a:t>•  Observação na tela: dados de demonstração (mockup) identificados.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Instagram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Série de 3 Storys (funil de alcance → conversa):</a:t>
            </a:r>
          </a:p>
          <a:p>
            <a:pPr lvl="1">
              <a:spcAft>
                <a:spcPts val="600"/>
              </a:spcAft>
            </a:pPr>
            <a:r>
              <a:t>•  Story 1 — Pergunta: "Na sua última reunião de portfólio, o que faltava: status ou previsibilidade?" (enquete nativa)</a:t>
            </a:r>
          </a:p>
          <a:p>
            <a:pPr lvl="1">
              <a:spcAft>
                <a:spcPts val="600"/>
              </a:spcAft>
            </a:pPr>
            <a:r>
              <a:t>•  Story 2 — Resultado da enquete + gancho: "Status mostra o presente. Previsibilidade mostra onde agir. Veja como." (sequência de decisão)</a:t>
            </a:r>
          </a:p>
          <a:p>
            <a:pPr lvl="1">
              <a:spcAft>
                <a:spcPts val="600"/>
              </a:spcAft>
            </a:pPr>
            <a:r>
              <a:t>•  Story 3 — CTA único: "Teste com um projeto real — piloto assistido de 21 dias. Toque para solicitar o diagnóstico."</a:t>
            </a:r>
          </a:p>
          <a:p>
            <a:pPr>
              <a:spcAft>
                <a:spcPts val="600"/>
              </a:spcAft>
            </a:pPr>
            <a:r>
              <a:t>•  Comportamento nativo: enquete e caixa de perguntas no Story 1; link na Story 3. Um CTA por Story.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628650">
                <a:tc>
                  <a:txBody>
                    <a:bodyPr/>
                    <a:lstStyle/>
                    <a:p>
                      <a:r>
                        <a:t>Estágio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Métrica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Aquisição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impressão, clique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alcance, CTR por canal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Conversa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resposta, comentário, 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conversas qualificadas por 100 contas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Ativação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projeto criado + insight de risco visualizado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 que conclui ativação sem ajuda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Piloto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piloto iniciado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contratos de piloto iniciados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Conversão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prova de valor documentada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decisão paga / iterar / desqualificar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Retenção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retorno ao produto no piloto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uso recorrente e expansão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1005840">
                <a:tc>
                  <a:txBody>
                    <a:bodyPr/>
                    <a:lstStyle/>
                    <a:p>
                      <a:r>
                        <a:t>Hipótese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Guardrail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de decisão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PMOs respondem mais a "risco antecipado" que a "centralização de tarefas"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conversas qualificadas por 100 contas abordadas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taxa de desqualificação por falta de processo ≤ 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após 10 entrevistas qualificadas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Post de decisão (hook 3) gera mais cliques que post de contraste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CTR e cliques para a landing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cliques ≥ 2× média da conta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após 7 dias de publicação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Enquete no Story 1 gera mais resposta que link direto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respostas por Story e DM resultantes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DMs ≥ 3% das respostas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após 5 Storys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Calendário e responsáveis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3"/>
              </a:tblGrid>
              <a:tr h="558800">
                <a:tc>
                  <a:txBody>
                    <a:bodyPr/>
                    <a:lstStyle/>
                    <a:p>
                      <a:r>
                        <a:t>Marco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Entrega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Dependência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T0 — Mensagem e kit aprovados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message house + landing + peças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aprovação deste plano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T0 + 2 dias úteis — Landing no ar (sombra)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página publicada, sem tráfego pago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G3 aprovado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T0 + 3 dias úteis — LinkedIn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 publicado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G3 aprovado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T0 + 4 dias úteis — Feed + 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peças publicadas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G3 aprovado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T0 + 5 dias úteis — Reel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Reel publicado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G3 aprovado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T0 + 10 dias úteis — Revisão de experimentos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leitura de CTR, conversas e guardrails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dados de 7 dias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t>T0 + 21 dias — Decisão de piloto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piloto assinado e iniciado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conversas qualificadas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Decisão solicitada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Aprovar este plano de campanha como base de trabalho, mantendo a publicação em HOLD até o G3 — e registrando que o gatilho de reavaliação é a conclusão da especificação da página de acompanhamento de atividades.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Campanha aprovada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Campanha aprovada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Data: 2026-08-06</a:t>
            </a:r>
          </a:p>
          <a:p>
            <a:pPr>
              <a:spcAft>
                <a:spcPts val="600"/>
              </a:spcAft>
            </a:pPr>
            <a:r>
              <a:t>•  Decisão: APROVADA — sem alterações obrigatórias.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ICP priorizado: PMO/diretores de operações, empresas de serviços com 5–30 projetos ativos; segunda hipótese apenas com acesso a entrevistas.</a:t>
            </a:r>
          </a:p>
          <a:p>
            <a:pPr>
              <a:spcAft>
                <a:spcPts val="600"/>
              </a:spcAft>
            </a:pPr>
            <a:r>
              <a:t>•  Oferta: piloto assistido de 21 dias com diagnóstico do portfólio real.</a:t>
            </a:r>
          </a:p>
          <a:p>
            <a:pPr>
              <a:spcAft>
                <a:spcPts val="600"/>
              </a:spcAft>
            </a:pPr>
            <a:r>
              <a:t>•  Promessas públicas: clareza, previsibilidade e decisão; mockups rotulados em todas as telas.</a:t>
            </a:r>
          </a:p>
          <a:p>
            <a:pPr>
              <a:spcAft>
                <a:spcPts val="600"/>
              </a:spcAft>
            </a:pPr>
            <a:r>
              <a:t>•  Hooks/tom/CTA: tom provocativo responsável; hook principal de decisão; um CTA único por peça.</a:t>
            </a:r>
          </a:p>
          <a:p>
            <a:pPr>
              <a:spcAft>
                <a:spcPts val="600"/>
              </a:spcAft>
            </a:pPr>
            <a:r>
              <a:t>•  Experimentos e métricas: 3 experimentos com hipótese, owner, métrica, guardrail e data de decisão aprovados.</a:t>
            </a:r>
          </a:p>
          <a:p>
            <a:pPr>
              <a:spcAft>
                <a:spcPts val="600"/>
              </a:spcAft>
            </a:pPr>
            <a:r>
              <a:t>•  Calendário: marcos relativos; publicação permanece condicionada ao G3 e à reavaliação de prontidão do produto.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Condição mantida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A campanha permanece em HOLD para publicação até que a página de acompanhamento de atividades seja especificada e o escopo de prontidão do produto seja reavaliado (decisão do sponsor de 2026-08-05).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Revisão Final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Veredito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HOLD para lançamento público e para autorização de piloto fechado enquanto as alterações obrigatórias não forem executadas. Este veredito é matematicamente forçado: média 5,83 (&lt; 7) e três critérios abaixo de 4 (UX/UI = 3, Evidência = 3, Operação = 2), o que dispara veto automático pela rubrica. Não há número inventado, fonte ausente nem mockup apresentado como resultado real — o veto não vem de desonestidade, vem de evidência ausente e prontidão de operação não resolvida. O CONDITIONAL GO para evolução interna do produto, já registrado pelo sponsor em prioridades-aprovadas.md, permanece válido como condição prévia, mas não autoriza nada público.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Revisão 1 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Primeira revisão independente deste pacote de lançamento. Ciclo registrado para rastreio de recorrência: os bloqueios de múltiplos projetos não implementado e nome do Gantt hardcoded já haviam sido reportados na revisão anterior e voltam a aparecer aqui sem correção implementada (recorrência). A auditoria UX/UI (etapa 02) foi pulada por decisão do usuário após duas falhas de gravação do subagente; o artefato prontidao-ux.md não existe e foi avaliado como limitação, não como achado inventado.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Tabela de pontuação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628650">
                <a:tc>
                  <a:txBody>
                    <a:bodyPr/>
                    <a:lstStyle/>
                    <a:p>
                      <a:r>
                        <a:t>Critério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Justificativa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Governança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dos gates G0–G4 têm critérios, evidências, decisor e recomendação registrados; todo workstream tem accountable único (Ronaldo Mazuhim); blockers do RAID têm ação, owner e prazo; forecast M0–M5 é comparado à baseline sem reescrita histórica. Dedução: dependências de analytics e suporte seguem com owner "a designar" e a auditoria da etapa 02 não foi executada, deixando a evidência de G2 em aberto. (plano-lancamento.md:58-129)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UX/UI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Auditoria da etapa 02 não executada; prontidao-ux.md inexistente. Bloqueios críticos documentados no plano: múltiplos projetos (criar/nomear/alternar) não implementado e Gantt com nome hardcoded — falham diretamente o critério de tarefa principal de G2. Não há evidência de cobertura de estados, de 80% de sucesso sem ajuda, nem de LCP ≤ 2,5 s, INP ≤ 200 ms e CLS ≤ 0,1 (percentil 75). Evidência ausente não recebe benefício da dúvida. (plano-lancamento.md:98-100, plano-lancamento.md:123-125)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Estratégia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ICP H1 completo com segmento, comprador, usuário, gatilho, dor, alternativa e desqualificação; oferta com prazo (21 dias), escopo (um portfólio real), prova de valor e próximo CTA; 3 experimentos com hipótese, owner, métrica, guardrail e data; funil conecta aquisição, ativação, conversão e retenção/receita. Dedução: guardrail do experimento 2 usa "2× média da conta" sem a média de referência definida. (campanha-lancamento.md:11-116)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Conteúdo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Primeira linha com tensão concreta e mensurável em todas as peças ("Você descobre que o projeto atrasou quando o atraso já ficou caro"); mockups rotulados em cada formato com nota de transparência; um único CTA mensurável por peça; formato e densidade nativos por canal (Reels 23 s, Stories, Feed escaneável); tom provocativo responsável, sem superlativos nem números inventados. (campanha-lancamento.md:45-96)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Evidência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quase totalidade da evidência exigida pelos gates é planejada, não executada: 0 de 10 entrevistas qualificadas, analytics de ativação sem owner e sem verificação ponta a ponta, dashboard de funil inexistente, auditoria UX ausente, nenhum teste com ICP. O plano é honesto sobre as lacunas, mas honestidade não substitui evidência (princípio 6). (plano-lancamento.md:34, plano-lancamento.md:128)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Operação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Suporte do piloto com owner "a designar antes do G3" e SLA "a definir"; instrumentação/analytics com owner "a designar antes do G2"; sem responsável por incidentes nomeado; contingência não definida. O gatilho de veto "lançamento sem suporte, instrumentação ou responsável por incidentes" permanece aberto para qualquer decisão de G3. (plano-lancamento.md:64-65, plano-lancamento.md:128-129)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Tabela de pontuação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Média: 5,83 · Menor nota: 2 (Operação)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Forças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Governança madura: gates com critério, evidência e decisor nomeados, e forecast comparado à baseline sem reescrita histórica — o antipadrão "mudar a baseline" é evitado.</a:t>
            </a:r>
          </a:p>
          <a:p>
            <a:pPr>
              <a:spcAft>
                <a:spcPts val="600"/>
              </a:spcAft>
            </a:pPr>
            <a:r>
              <a:t>•  Disciplina de evidência honesta: o plano e a campanha rotulam mockups em toda peça pública e recusam números de clientes/resultados garantidos — o antipadrão "hype sem prova" é evitado.</a:t>
            </a:r>
          </a:p>
          <a:p>
            <a:pPr>
              <a:spcAft>
                <a:spcPts val="600"/>
              </a:spcAft>
            </a:pPr>
            <a:r>
              <a:t>•  Campanha bem estruturada: ICP com desqualificação, oferta com prova de valor, experimentos com guardrail e um CTA único por peça — os antipadrões "lançar para todos", "muitos CTAs" e "mesmo conteúdo em todos os canais" são evitados.</a:t>
            </a:r>
          </a:p>
          <a:p>
            <a:pPr>
              <a:spcAft>
                <a:spcPts val="600"/>
              </a:spcAft>
            </a:pPr>
            <a:r>
              <a:t>•  A campanha aprovada mantém a publicação em HOLD condicionada ao G3, coerente com os gates do plano — decisão consistente entre artefatos.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Alterações obrigatórias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Cada item informa o que corrigir, onde e como verificar a correção.</a:t>
            </a:r>
          </a:p>
          <a:p>
            <a:pPr>
              <a:spcAft>
                <a:spcPts val="600"/>
              </a:spcAft>
            </a:pPr>
            <a:r>
              <a:t>•  Executar a auditoria UX/UI (etapa 02) e produzir prontidao-ux.md — Nota UX/UI 3. Onde: fluxos críticos de G2 (criar projeto, alternar projetos, interpretar dashboard, identificar risco). Como verificar: arquivo prontidao-ux.md criado em output/.../v2/ com checklist WCAG 2.2 AA por fluxo (teclado, foco, semântica, contraste, status), cobertura de estados (sucesso/vazio/loading/erro/permissão), resultado de teste de tarefa com meta de 80% de sucesso sem ajuda e medição LCP/INP/CLS no percentil 75 quando houver dados de campo; artefato datado e assinado por Úrsula Usabilidade. Sem este artefato a dimensão permanece abaixo de 4.</a:t>
            </a:r>
          </a:p>
          <a:p>
            <a:pPr>
              <a:spcAft>
                <a:spcPts val="600"/>
              </a:spcAft>
            </a:pPr>
            <a:r>
              <a:t>•  Implementar múltiplos projetos e nome dinâmico do Gantt — Nota UX/UI 3 (tarefa principal). Onde: G2 (plano-lancamento.md:98) e RAID (plano-lancamento.md:123-124). Como verificar: criar e nomear mais de um projeto, alternar entre projetos sem perda durante a sessão e conferir que o cabeçalho do Gantt exibe o nome do projeto selecionado (remover o nome hardcoded Mockup); reprodução manual registrada com data e resultado.</a:t>
            </a:r>
          </a:p>
          <a:p>
            <a:pPr>
              <a:spcAft>
                <a:spcPts val="600"/>
              </a:spcAft>
            </a:pPr>
            <a:r>
              <a:t>•  Nomear owners de operação e instrumentação — Nota Operação 2. Onde: workstreams (plano-lancamento.md:64-65) e dependências do RAID (plano-lancamento.md:128-129). Como verificar: os campos "a designar" são substituídos por nome e prazo concretos; definidos canal de suporte, SLA e escalonamento; evento de ativação especificado e verificado ponta a ponta; responsável por incidentes nomeado.</a:t>
            </a:r>
          </a:p>
          <a:p>
            <a:pPr>
              <a:spcAft>
                <a:spcPts val="600"/>
              </a:spcAft>
            </a:pPr>
            <a:r>
              <a:t>•  Produzir evidência de pesquisa e instrumentação real — Nota Evidência 3. Onde: meta "10 entrevistas qualificadas" (plano-lancamento.md:41) e dependência de analytics (plano-lancamento.md:128). Como verificar: registro de entrevistas com data, perfil e descoberta de cada uma; dashboard de funil com eventos confirmados e fonte/período visíveis antes de qualquer declaração de mensagem vencedora.</a:t>
            </a:r>
          </a:p>
          <a:p>
            <a:pPr>
              <a:spcAft>
                <a:spcPts val="600"/>
              </a:spcAft>
            </a:pPr>
            <a:r>
              <a:t>•  Reavaliar o escopo de prontidão com a nova prioridade do sponsor — Onde: prioridades-aprovadas.md:9-18. A página de acompanhamento de atividades (alocação por profissional, projeto e atividade) muda o escopo de G2. Como verificar: especificação da página aprovada pelo sponsor antes de implementação e gates/roadmap do plano atualizados refletindo o novo escopo.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Sugestões não bloqueantes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Definir a média de referência da conta para o guardrail "cliques ≥ 2× média" do experimento 2 antes de medir (campanha-lancamento.md:116).</a:t>
            </a:r>
          </a:p>
          <a:p>
            <a:pPr>
              <a:spcAft>
                <a:spcPts val="600"/>
              </a:spcAft>
            </a:pPr>
            <a:r>
              <a:t>•  Preencher os campos de desqualificação e gatilho da hipótese 2 quando ela for ativada por acesso a entrevistas (campanha-lancamento.md:21-23).</a:t>
            </a:r>
          </a:p>
          <a:p>
            <a:pPr>
              <a:spcAft>
                <a:spcPts val="600"/>
              </a:spcAft>
            </a:pPr>
            <a:r>
              <a:t>•  Definir o formato do registro de "decisão antecipada documentada" que servirá de prova de valor do piloto (campanha-lancamento.md:30).</a:t>
            </a:r>
          </a:p>
          <a:p>
            <a:pPr>
              <a:spcAft>
                <a:spcPts val="600"/>
              </a:spcAft>
            </a:pPr>
            <a:r>
              <a:t>•  Registrar a decisão de pular a etapa 02 no decision log do plano de lançamento, para que o rastro de decisão fique em um único artefato (plano-lancamento.md:141-147).</a:t>
            </a:r>
          </a:p>
          <a:p>
            <a:pPr>
              <a:spcAft>
                <a:spcPts val="600"/>
              </a:spcAft>
            </a:pPr>
            <a:r>
              <a:t>•  Adicionar UTM/link de rastreio ao CTA-pergunta do LinkedIn para tornar a conversa qualificada mensurável por canal (campanha-lancamento.md:66).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Gatilhos de veto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Gatilho acionado (veto automático): critérios abaixo de 4 — UX/UI = 3, Evidência = 3 e Operação = 2. A rubrica manda rejeitar independentemente da média.</a:t>
            </a:r>
          </a:p>
          <a:p>
            <a:pPr>
              <a:spcAft>
                <a:spcPts val="600"/>
              </a:spcAft>
            </a:pPr>
            <a:r>
              <a:t>•  Gatilho em risco (aberto para G3): lançamento sem suporte, instrumentação ou responsável por incidentes — todos os três seguem sem owner nomeado. Qualquer tentativa de autorizar G3 antes da alteração obrigatória 3 reincide o veto.</a:t>
            </a:r>
          </a:p>
          <a:p>
            <a:pPr>
              <a:spcAft>
                <a:spcPts val="600"/>
              </a:spcAft>
            </a:pPr>
            <a:r>
              <a:t>•  Gatilhos NÃO acionados (verificado): não há número inventado, fonte ausente, mockup apresentado como resultado real, nem promessa pública incompatível com o produto — a campanha rotula mockups e não promete resultados garantidos.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Caminho para aprovação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Reaprovação exige, nesta ordem:</a:t>
            </a:r>
          </a:p>
          <a:p>
            <a:pPr>
              <a:spcAft>
                <a:spcPts val="600"/>
              </a:spcAft>
            </a:pPr>
            <a:r>
              <a:t>•  prontidao-ux.md criado com auditoria real da etapa 02 e correções de múltiplos projetos + Gantt dinâmico verificadas (UX/UI ≥ 4 e G2 liberável).</a:t>
            </a:r>
          </a:p>
          <a:p>
            <a:pPr>
              <a:spcAft>
                <a:spcPts val="600"/>
              </a:spcAft>
            </a:pPr>
            <a:r>
              <a:t>•  Owners de suporte, analytics e incidentes nomeados com SLA e prazo (Operação ≥ 4 e gatilho de G3 fechado).</a:t>
            </a:r>
          </a:p>
          <a:p>
            <a:pPr>
              <a:spcAft>
                <a:spcPts val="600"/>
              </a:spcAft>
            </a:pPr>
            <a:r>
              <a:t>•  10 entrevistas qualificadas e dashboard de funil instrumentado (Evidência ≥ 4).</a:t>
            </a:r>
          </a:p>
          <a:p>
            <a:pPr>
              <a:spcAft>
                <a:spcPts val="600"/>
              </a:spcAft>
            </a:pPr>
            <a:r>
              <a:t>•  Especificação da página de acompanhamento de atividades aprovada e escopo de G2 reavaliado.</a:t>
            </a:r>
          </a:p>
          <a:p>
            <a:pPr>
              <a:spcAft>
                <a:spcPts val="600"/>
              </a:spcAft>
            </a:pPr>
            <a:r>
              <a:t>•  Com esses quatro itens, a nota mínima plausível das dimensões bloqueadas sobe para ~5 e a média pode atingir ≥ 7, permitindo CONDITIONAL GO para piloto fechado; GO para lançamento público segue exigindo G1, G2 e G3 aprovados com revisão independente sem veto.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Próxima decisão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Gate: G2 — Produto pronto para piloto (plano-lancamento.md:96-102), precedido pela auditoria UX/UI da etapa 02 e pela reavaliação de prontidão com a nova página de acompanhamento de atividades. Decisor: Ronaldo Mazuhim. Decisão esperada: aprovar as alterações obrigatórias 1 a 5, nomear owners e reagendar o checkpoint com o artefato prontidao-ux.md em mãos. Esta revisão será a 2 de 3 no próximo ciclo.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Decisão final GO/NO-GO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Decisão final GO/NO-GO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Data: 2026-08-06</a:t>
            </a:r>
          </a:p>
          <a:p>
            <a:pPr>
              <a:spcAft>
                <a:spcPts val="600"/>
              </a:spcAft>
            </a:pPr>
            <a:r>
              <a:t>•  Decisão: GO — lançamento autorizado no escopo aprovado.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Justificativa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Decisão soberana do sponsor (Ronaldo Mazuhim). O veredito independente de Renata Revisão foi HOLD (média 5,83; UX/UI 3, Evidência 3 e Operação 2 abaixo de 4), porém o sponsor decidiu autorizar o lançamento no escopo aprovado, assumindo o risco documentado.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Condições e responsáveis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As alterações obrigatórias da revisão final permanecem vigentes como condições de execução, sob responsabilidade de seus owners:</a:t>
            </a:r>
          </a:p>
          <a:p>
            <a:pPr>
              <a:spcAft>
                <a:spcPts val="600"/>
              </a:spcAft>
            </a:pPr>
            <a:r>
              <a:t>•  Auditoria UX/UI (etapa 02) e artefato prontidao-ux.md — Owner: Úrsula Usabilidade.</a:t>
            </a:r>
          </a:p>
          <a:p>
            <a:pPr>
              <a:spcAft>
                <a:spcPts val="600"/>
              </a:spcAft>
            </a:pPr>
            <a:r>
              <a:t>•  Múltiplos projetos e nome dinâmico do Gantt — Owner: Úrsula Usabilidade.</a:t>
            </a:r>
          </a:p>
          <a:p>
            <a:pPr>
              <a:spcAft>
                <a:spcPts val="600"/>
              </a:spcAft>
            </a:pPr>
            <a:r>
              <a:t>•  Owners de suporte, analytics e incidentes nomeados — Owner: Ronaldo Mazuhim.</a:t>
            </a:r>
          </a:p>
          <a:p>
            <a:pPr>
              <a:spcAft>
                <a:spcPts val="600"/>
              </a:spcAft>
            </a:pPr>
            <a:r>
              <a:t>•  Evidência real (10 entrevistas qualificadas + dashboard de funil) — Owner: Marina Mercado.</a:t>
            </a:r>
          </a:p>
          <a:p>
            <a:pPr>
              <a:spcAft>
                <a:spcPts val="600"/>
              </a:spcAft>
            </a:pPr>
            <a:r>
              <a:t>•  Reavaliação do escopo G2 com a página de acompanhamento de atividades — Owner: Ronaldo Mazuhim.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Prazos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Publicação da campanha: condicionada ao G3, após a campanha aprovada em 2026-08-06 e à conclusão das condições acima.</a:t>
            </a:r>
          </a:p>
          <a:p>
            <a:pPr>
              <a:spcAft>
                <a:spcPts val="600"/>
              </a:spcAft>
            </a:pPr>
            <a:r>
              <a:t>•  Próxima revisão formal: após auditoria UX/UI e correções de produto (revisão 2 de 3).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Próxima revisão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Data da próxima revisão: a definir após a etapa 02 (auditoria UX/UI) e a especificação da página de acompanhamento de atividades.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