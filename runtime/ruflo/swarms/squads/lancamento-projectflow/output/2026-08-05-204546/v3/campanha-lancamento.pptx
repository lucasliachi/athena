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Campanha de Lançamento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 escolhido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Provocativo responsável — desafia a crença de que "status resolve previsibilidade" sem exagerar evidências. Usa tensão concreta (atraso caro, reunião de emergência) e conduz para a decisão. Não promete números de clientes nem resultados garantidos.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Hipótese 1 — PMO / Diretores de operações (prioritária)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Segmento: empresas de serviços com 5–30 projetos ativos.</a:t>
            </a:r>
          </a:p>
          <a:p>
            <a:pPr>
              <a:spcAft>
                <a:spcPts val="600"/>
              </a:spcAft>
            </a:pPr>
            <a:r>
              <a:t>•  Comprador: diretor de operações ou gestor de PMO.</a:t>
            </a:r>
          </a:p>
          <a:p>
            <a:pPr>
              <a:spcAft>
                <a:spcPts val="600"/>
              </a:spcAft>
            </a:pPr>
            <a:r>
              <a:t>•  Usuário: gerentes de projeto e líderes de portfólio.</a:t>
            </a:r>
          </a:p>
          <a:p>
            <a:pPr>
              <a:spcAft>
                <a:spcPts val="600"/>
              </a:spcAft>
            </a:pPr>
            <a:r>
              <a:t>•  Gatilho: reunião executiva depende de consolidação manual de status.</a:t>
            </a:r>
          </a:p>
          <a:p>
            <a:pPr>
              <a:spcAft>
                <a:spcPts val="600"/>
              </a:spcAft>
            </a:pPr>
            <a:r>
              <a:t>•  Dor: risco aparece tarde; capacidade é realocada por percepção, não por dado.</a:t>
            </a:r>
          </a:p>
          <a:p>
            <a:pPr>
              <a:spcAft>
                <a:spcPts val="600"/>
              </a:spcAft>
            </a:pPr>
            <a:r>
              <a:t>•  Alternativa atual: planilhas, reuniões semanais e retrabalho de consolidação.</a:t>
            </a:r>
          </a:p>
          <a:p>
            <a:pPr>
              <a:spcAft>
                <a:spcPts val="600"/>
              </a:spcAft>
            </a:pPr>
            <a:r>
              <a:t>•  Desqualificação: equipe sem rotina mínima de atualização de projetos; ausência de interesse em previsibilidade (prefere "apagar incêndio").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Hipótese 2 — Segunda hipótese (somente com acesso a entrevistas)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Diretorias de operações de empresas de serviço com poucos (1–4) projetos críticos, onde um único desvio impacta o trimestre. Validar em paralelo apenas se houver acesso real a entrevistas; caso contrário, descartar.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Proposta de valor e oferta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Promessa: transformar dados dos projetos em clareza, previsibilidade e decisão — saber qual projeto exige ação primeiro, antes de virar reunião de emergência.</a:t>
            </a:r>
          </a:p>
          <a:p>
            <a:pPr>
              <a:spcAft>
                <a:spcPts val="600"/>
              </a:spcAft>
            </a:pPr>
            <a:r>
              <a:t>•  Mecanismo: prazo, risco e capacidade na mesma leitura; alertas de risco com impacto e responsável; comparação com baseline sem reescrita histórica.</a:t>
            </a:r>
          </a:p>
          <a:p>
            <a:pPr>
              <a:spcAft>
                <a:spcPts val="600"/>
              </a:spcAft>
            </a:pPr>
            <a:r>
              <a:t>•  Prova: demo guiada com dados de mockup identificados; evidência de uma decisão antecipada documentada no piloto.</a:t>
            </a:r>
          </a:p>
          <a:p>
            <a:pPr>
              <a:spcAft>
                <a:spcPts val="600"/>
              </a:spcAft>
            </a:pPr>
            <a:r>
              <a:t>•  Oferta inicial: piloto assistido de 21 dias com um portfólio real. Prova de valor: identificar ao menos uma decisão antecipada de prazo, risco ou capacidade.</a:t>
            </a:r>
          </a:p>
          <a:p>
            <a:pPr>
              <a:spcAft>
                <a:spcPts val="600"/>
              </a:spcAft>
            </a:pPr>
            <a:r>
              <a:t>•  CTA principal: solicitar o diagnóstico do portfólio.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house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58800">
                <a:tc>
                  <a:txBody>
                    <a:bodyPr/>
                    <a:lstStyle/>
                    <a:p>
                      <a:r>
                        <a:t>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Mensagem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Quem somos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ProjectFlow — clareza, previsibilidade e decisão na gestão de projetos.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O que fazemos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Transformamos os dados operacionais dos seus projetos em uma leitura executiva de prazo, risco e capacidade.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Por que acreditar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Uma tela, um cenário e uma decisão por conteúdo; mockups identificados; prova via piloto assistido.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Saiba hoje qual projeto exige ação primeiro.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Identifique dependências críticas antes do desvio.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Realoque responsáveis com base em dado, não em percepção.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Objeção a responder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"Já tenho status." -&amp;gt; Status mostra o presente; previsibilidade mostra onde agir.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Headline: Você descobre que o projeto atrasou quando o atraso já ficou caro.</a:t>
            </a:r>
          </a:p>
          <a:p>
            <a:pPr>
              <a:spcAft>
                <a:spcPts val="600"/>
              </a:spcAft>
            </a:pPr>
            <a:r>
              <a:t>•  Subheadline: ProjectFlow transforma prazo, risco e capacidade em uma única leitura — para você decidir antes da reunião de emergência.</a:t>
            </a:r>
          </a:p>
          <a:p>
            <a:pPr>
              <a:spcAft>
                <a:spcPts val="600"/>
              </a:spcAft>
            </a:pPr>
            <a:r>
              <a:t>•  Bloco de prova: tela do dashboard (dados de mockup rotulados) com três elementos destacados: (1) projeto que exige ação primeiro, (2) dependência crítica, (3) responsável a realocar.</a:t>
            </a:r>
          </a:p>
          <a:p>
            <a:pPr>
              <a:spcAft>
                <a:spcPts val="600"/>
              </a:spcAft>
            </a:pPr>
            <a:r>
              <a:t>•  Seção "Como funciona": 3 passos — conecte seus projetos, leia prazo/risco/capacidade, decida com evidência.</a:t>
            </a:r>
          </a:p>
          <a:p>
            <a:pPr>
              <a:spcAft>
                <a:spcPts val="600"/>
              </a:spcAft>
            </a:pPr>
            <a:r>
              <a:t>•  Oferta: piloto assistido de 21 dias com diagnóstico do seu portfólio real.</a:t>
            </a:r>
          </a:p>
          <a:p>
            <a:pPr>
              <a:spcAft>
                <a:spcPts val="600"/>
              </a:spcAft>
            </a:pPr>
            <a:r>
              <a:t>•  CTA único: Solicitar diagnóstico do portfólio.</a:t>
            </a:r>
          </a:p>
          <a:p>
            <a:pPr>
              <a:spcAft>
                <a:spcPts val="600"/>
              </a:spcAft>
            </a:pPr>
            <a:r>
              <a:t>•  Nota de transparência: As telas exibem dados de demonstração (mockup). A decisão, porém, é real: agir antes ou explicar depois.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Hook: Você descobre que o projeto atrasou quando o atraso já ficou caro.</a:t>
            </a:r>
          </a:p>
          <a:p>
            <a:pPr>
              <a:spcAft>
                <a:spcPts val="600"/>
              </a:spcAft>
            </a:pPr>
            <a:r>
              <a:t>•  Corpo:</a:t>
            </a:r>
          </a:p>
          <a:p>
            <a:pPr lvl="1">
              <a:spcAft>
                <a:spcPts val="600"/>
              </a:spcAft>
            </a:pPr>
            <a:r>
              <a:t>•  O problema não é falta de status. É falta de previsibilidade.</a:t>
            </a:r>
          </a:p>
          <a:p>
            <a:pPr lvl="1">
              <a:spcAft>
                <a:spcPts val="600"/>
              </a:spcAft>
            </a:pPr>
            <a:r>
              <a:t>•  Status mostra o presente. Previsibilidade mostra onde agir.</a:t>
            </a:r>
          </a:p>
          <a:p>
            <a:pPr lvl="1">
              <a:spcAft>
                <a:spcPts val="600"/>
              </a:spcAft>
            </a:pPr>
            <a:r>
              <a:t>•  No ProjectFlow, prazo, risco e capacidade aparecem na mesma leitura:</a:t>
            </a:r>
          </a:p>
          <a:p>
            <a:pPr lvl="2">
              <a:spcAft>
                <a:spcPts val="600"/>
              </a:spcAft>
            </a:pPr>
            <a:r>
              <a:t>1.  Qual projeto exige ação primeiro.</a:t>
            </a:r>
          </a:p>
          <a:p>
            <a:pPr lvl="2">
              <a:spcAft>
                <a:spcPts val="600"/>
              </a:spcAft>
            </a:pPr>
            <a:r>
              <a:t>1.  Onde existe dependência crítica.</a:t>
            </a:r>
          </a:p>
          <a:p>
            <a:pPr lvl="2">
              <a:spcAft>
                <a:spcPts val="600"/>
              </a:spcAft>
            </a:pPr>
            <a:r>
              <a:t>1.  Quem precisa ser realocado antes do desvio.</a:t>
            </a:r>
          </a:p>
          <a:p>
            <a:pPr lvl="1">
              <a:spcAft>
                <a:spcPts val="600"/>
              </a:spcAft>
            </a:pPr>
            <a:r>
              <a:t>•  O cenário mostrado é um mockup de demonstração. A decisão, porém, é real: agir antes ou explicar depois.</a:t>
            </a:r>
          </a:p>
          <a:p>
            <a:pPr>
              <a:spcAft>
                <a:spcPts val="600"/>
              </a:spcAft>
            </a:pPr>
            <a:r>
              <a:t>•  CTA único: Qual informação falta hoje na sua reunião de portfólio? (respostas geram conversa qualificada)</a:t>
            </a:r>
          </a:p>
          <a:p>
            <a:pPr>
              <a:spcAft>
                <a:spcPts val="600"/>
              </a:spcAft>
            </a:pPr>
            <a:r>
              <a:t>•  Hashtags: #GestãoDeProjetos #PMO #Previsibilidade #SaaS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Copy: O atraso não começa quando a barra fica vermelha. Começa quando ninguém consegue ver o desvio chegando. (1ª linha — tensão concreta)</a:t>
            </a:r>
          </a:p>
          <a:p>
            <a:pPr lvl="1">
              <a:spcAft>
                <a:spcPts val="600"/>
              </a:spcAft>
            </a:pPr>
            <a:r>
              <a:t>•  Prazo, risco e capacidade na mesma leitura.</a:t>
            </a:r>
          </a:p>
          <a:p>
            <a:pPr lvl="1">
              <a:spcAft>
                <a:spcPts val="600"/>
              </a:spcAft>
            </a:pPr>
            <a:r>
              <a:t>•  Dependência crítica identificada antes do impacto.</a:t>
            </a:r>
          </a:p>
          <a:p>
            <a:pPr lvl="1">
              <a:spcAft>
                <a:spcPts val="600"/>
              </a:spcAft>
            </a:pPr>
            <a:r>
              <a:t>•  Responsável realocado por dado, não por percepção.</a:t>
            </a:r>
          </a:p>
          <a:p>
            <a:pPr lvl="1">
              <a:spcAft>
                <a:spcPts val="600"/>
              </a:spcAft>
            </a:pPr>
            <a:r>
              <a:t>•  Tela de demonstração (mockup) identificada na imagem.</a:t>
            </a:r>
          </a:p>
          <a:p>
            <a:pPr>
              <a:spcAft>
                <a:spcPts val="600"/>
              </a:spcAft>
            </a:pPr>
            <a:r>
              <a:t>•  CTA único: Salve este post para a sua próxima reunião de portfólio.</a:t>
            </a:r>
          </a:p>
          <a:p>
            <a:pPr>
              <a:spcAft>
                <a:spcPts val="600"/>
              </a:spcAft>
            </a:pPr>
            <a:r>
              <a:t>•  Formato nativo: imagem com 1 tela + 3 bullets; legendas escaneáveis; sem texto longo na imagem.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Reels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Roteiro (23 s):</a:t>
            </a:r>
          </a:p>
          <a:p>
            <a:pPr lvl="1">
              <a:spcAft>
                <a:spcPts val="600"/>
              </a:spcAft>
            </a:pPr>
            <a:r>
              <a:t>•  0–2 s: dashboard com alerta. Texto na tela: "O atraso começou antes desta barra ficar vermelha."</a:t>
            </a:r>
          </a:p>
          <a:p>
            <a:pPr lvl="1">
              <a:spcAft>
                <a:spcPts val="600"/>
              </a:spcAft>
            </a:pPr>
            <a:r>
              <a:t>•  2–8 s: zoom na tendência. Fala: "Status mostra o presente. Previsibilidade mostra onde agir."</a:t>
            </a:r>
          </a:p>
          <a:p>
            <a:pPr lvl="1">
              <a:spcAft>
                <a:spcPts val="600"/>
              </a:spcAft>
            </a:pPr>
            <a:r>
              <a:t>•  8–15 s: alternância entre risco, capacidade e forecast com legendas curtas.</a:t>
            </a:r>
          </a:p>
          <a:p>
            <a:pPr lvl="1">
              <a:spcAft>
                <a:spcPts val="600"/>
              </a:spcAft>
            </a:pPr>
            <a:r>
              <a:t>•  15–21 s: uma decisão: realocar responsável e revisar marco.</a:t>
            </a:r>
          </a:p>
          <a:p>
            <a:pPr lvl="1">
              <a:spcAft>
                <a:spcPts val="600"/>
              </a:spcAft>
            </a:pPr>
            <a:r>
              <a:t>•  21–23 s: tela final. Fala: "ProjectFlow. Clareza, previsibilidade e decisão."</a:t>
            </a:r>
          </a:p>
          <a:p>
            <a:pPr>
              <a:spcAft>
                <a:spcPts val="600"/>
              </a:spcAft>
            </a:pPr>
            <a:r>
              <a:t>•  CTA único: Comente DEMO para acompanhar o piloto.</a:t>
            </a:r>
          </a:p>
          <a:p>
            <a:pPr>
              <a:spcAft>
                <a:spcPts val="600"/>
              </a:spcAft>
            </a:pPr>
            <a:r>
              <a:t>•  Observação na tela: dados de demonstração (mockup) identificados.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Série de 3 Storys (funil de alcance -&amp;gt; conversa):</a:t>
            </a:r>
          </a:p>
          <a:p>
            <a:pPr lvl="1">
              <a:spcAft>
                <a:spcPts val="600"/>
              </a:spcAft>
            </a:pPr>
            <a:r>
              <a:t>•  Story 1 — Pergunta: "Na sua última reunião de portfólio, o que faltava: status ou previsibilidade?" (enquete nativa)</a:t>
            </a:r>
          </a:p>
          <a:p>
            <a:pPr lvl="1">
              <a:spcAft>
                <a:spcPts val="600"/>
              </a:spcAft>
            </a:pPr>
            <a:r>
              <a:t>•  Story 2 — Resultado da enquete + gancho: "Status mostra o presente. Previsibilidade mostra onde agir. Veja como." (sequência de decisão)</a:t>
            </a:r>
          </a:p>
          <a:p>
            <a:pPr lvl="1">
              <a:spcAft>
                <a:spcPts val="600"/>
              </a:spcAft>
            </a:pPr>
            <a:r>
              <a:t>•  Story 3 — CTA único: "Teste com um projeto real — piloto assistido de 21 dias. Toque para solicitar o diagnóstico."</a:t>
            </a:r>
          </a:p>
          <a:p>
            <a:pPr>
              <a:spcAft>
                <a:spcPts val="600"/>
              </a:spcAft>
            </a:pPr>
            <a:r>
              <a:t>•  Comportamento nativo: enquete e caixa de perguntas no Story 1; link na Story 3. Um CTA por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8650">
                <a:tc>
                  <a:txBody>
                    <a:bodyPr/>
                    <a:lstStyle/>
                    <a:p>
                      <a:r>
                        <a:t>Estágio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Métrica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Aquisição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impressão, clique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alcance, CTR por canal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Conversa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resposta, comentário, 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 por 100 contas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projeto criado + insight de risco visualizado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que conclui ativação sem ajuda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piloto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contratos de piloto iniciados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Conversão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prova de valor documentada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decisão paga / iterar / desqualificar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Retenção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retorno ao produto no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uso recorrente e expansão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005840">
                <a:tc>
                  <a:txBody>
                    <a:bodyPr/>
                    <a:lstStyle/>
                    <a:p>
                      <a:r>
                        <a:t>Hipótese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de decisão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PMOs respondem mais a "risco antecipado" que a "centralização de tarefas"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 por 100 contas abordadas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taxa de desqualificação por falta de processo ≤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10 entrevistas qualificadas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Post de decisão (hook 3) gera mais cliques que post de contraste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CTR e cliques para a landing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cliques ≥ 2× média da conta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7 dias de publicação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Enquete no Story 1 gera mais resposta que link direto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respostas por Story e DM resultantes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DMs ≥ 3% das respostas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5 Storys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Calendário e responsáveis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558800">
                <a:tc>
                  <a:txBody>
                    <a:bodyPr/>
                    <a:lstStyle/>
                    <a:p>
                      <a:r>
                        <a:t>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Dependência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— Mensagem e kit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house + landing + peças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aprovação deste plano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+ 2 dias úteis — Landing no ar (sombra)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página publicada, sem tráfego 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+ 3 dias úteis — LinkedIn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 publicado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+ 4 dias úteis — Feed +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peças publicadas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+ 5 dias úteis — 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Reel publicado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+ 10 dias úteis — Revisão de experimentos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leitura de CTR, conversas e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dados de 7 dias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+ 21 dias — Decisão de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piloto assinado e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solicitada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Aprovar este plano de campanha como base de trabalho, mantendo a publicação em HOLD até o G3 — e registrando que o gatilho de reavaliação é a conclusão da especificação da página de acompanhamento de atividades.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