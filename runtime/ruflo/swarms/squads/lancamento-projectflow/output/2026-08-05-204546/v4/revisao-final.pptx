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Revisão Final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Veredito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HOLD para lançamento público e para autorização de piloto fechado enquanto as alterações obrigatórias não forem executadas. Este veredito é matematicamente forçado: média 5,83 (&lt; 7) e três critérios abaixo de 4 (UX/UI = 3, Evidência = 3, Operação = 2), o que dispara veto automático pela rubrica. Não há número inventado, fonte ausente nem mockup apresentado como resultado real — o veto não vem de desonestidade, vem de evidência ausente e prontidão de operação não resolvida. O CONDITIONAL GO para evolução interna do produto, já registrado pelo sponsor em prioridades-aprovadas.md, permanece válido como condição prévia, mas não autoriza nada público.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Revisão 1 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Primeira revisão independente deste pacote de lançamento. Ciclo registrado para rastreio de recorrência: os bloqueios de múltiplos projetos não implementado e nome do Gantt hardcoded já haviam sido reportados na revisão anterior e voltam a aparecer aqui sem correção implementada (recorrência). A auditoria UX/UI (etapa 02) foi pulada por decisão do usuário após duas falhas de gravação do subagente; o artefato prontidao-ux.md não existe e foi avaliado como limitação, não como achado inventado.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Tabela de pontuação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628650">
                <a:tc>
                  <a:txBody>
                    <a:bodyPr/>
                    <a:lstStyle/>
                    <a:p>
                      <a:r>
                        <a:t>Critério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Justificativa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Governança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dos gates G0–G4 têm critérios, evidências, decisor e recomendação registrados; todo workstream tem accountable único (Ronaldo Mazuhim); blockers do RAID têm ação, owner e prazo; forecast M0–M5 é comparado à baseline sem reescrita histórica. Dedução: dependências de analytics e suporte seguem com owner "a designar" e a auditoria da etapa 02 não foi executada, deixando a evidência de G2 em aberto. (plano-lancamento.md:58-129)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UX/UI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Auditoria da etapa 02 não executada; prontidao-ux.md inexistente. Bloqueios críticos documentados no plano: múltiplos projetos (criar/nomear/alternar) não implementado e Gantt com nome hardcoded — falham diretamente o critério de tarefa principal de G2. Não há evidência de cobertura de estados, de 80% de sucesso sem ajuda, nem de LCP ≤ 2,5 s, INP ≤ 200 ms e CLS ≤ 0,1 (percentil 75). Evidência ausente não recebe benefício da dúvida. (plano-lancamento.md:98-100, plano-lancamento.md:123-125)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Estratégia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ICP H1 completo com segmento, comprador, usuário, gatilho, dor, alternativa e desqualificação; oferta com prazo (21 dias), escopo (um portfólio real), prova de valor e próximo CTA; 3 experimentos com hipótese, owner, métrica, guardrail e data; funil conecta aquisição, ativação, conversão e retenção/receita. Dedução: guardrail do experimento 2 usa "2× média da conta" sem a média de referência definida. (campanha-lancamento.md:11-116)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Conteúdo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Primeira linha com tensão concreta e mensurável em todas as peças ("Você descobre que o projeto atrasou quando o atraso já ficou caro"); mockups rotulados em cada formato com nota de transparência; um único CTA mensurável por peça; formato e densidade nativos por canal (Reels 23 s, Stories, Feed escaneável); tom provocativo responsável, sem superlativos nem números inventados. (campanha-lancamento.md:45-96)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Evidência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 quase totalidade da evidência exigida pelos gates é planejada, não executada: 0 de 10 entrevistas qualificadas, analytics de ativação sem owner e sem verificação ponta a ponta, dashboard de funil inexistente, auditoria UX ausente, nenhum teste com ICP. O plano é honesto sobre as lacunas, mas honestidade não substitui evidência (princípio 6). (plano-lancamento.md:34, plano-lancamento.md:128)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Operação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Suporte do piloto com owner "a designar antes do G3" e SLA "a definir"; instrumentação/analytics com owner "a designar antes do G2"; sem responsável por incidentes nomeado; contingência não definida. O gatilho de veto "lançamento sem suporte, instrumentação ou responsável por incidentes" permanece aberto para qualquer decisão de G3. (plano-lancamento.md:64-65, plano-lancamento.md:128-129)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Tabela de pontuação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Média: 5,83 · Menor nota: 2 (Operação)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Forças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Governança madura: gates com critério, evidência e decisor nomeados, e forecast comparado à baseline sem reescrita histórica — o antipadrão "mudar a baseline" é evitado.</a:t>
            </a:r>
          </a:p>
          <a:p>
            <a:pPr>
              <a:spcAft>
                <a:spcPts val="600"/>
              </a:spcAft>
            </a:pPr>
            <a:r>
              <a:t>•  Disciplina de evidência honesta: o plano e a campanha rotulam mockups em toda peça pública e recusam números de clientes/resultados garantidos — o antipadrão "hype sem prova" é evitado.</a:t>
            </a:r>
          </a:p>
          <a:p>
            <a:pPr>
              <a:spcAft>
                <a:spcPts val="600"/>
              </a:spcAft>
            </a:pPr>
            <a:r>
              <a:t>•  Campanha bem estruturada: ICP com desqualificação, oferta com prova de valor, experimentos com guardrail e um CTA único por peça — os antipadrões "lançar para todos", "muitos CTAs" e "mesmo conteúdo em todos os canais" são evitados.</a:t>
            </a:r>
          </a:p>
          <a:p>
            <a:pPr>
              <a:spcAft>
                <a:spcPts val="600"/>
              </a:spcAft>
            </a:pPr>
            <a:r>
              <a:t>•  A campanha aprovada mantém a publicação em HOLD condicionada ao G3, coerente com os gates do plano — decisão consistente entre artefatos.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Alterações obrigatórias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Cada item informa o que corrigir, onde e como verificar a correção.</a:t>
            </a:r>
          </a:p>
          <a:p>
            <a:pPr>
              <a:spcAft>
                <a:spcPts val="600"/>
              </a:spcAft>
            </a:pPr>
            <a:r>
              <a:t>1.  Executar a auditoria UX/UI (etapa 02) e produzir prontidao-ux.md — Nota UX/UI 3. Onde: fluxos críticos de G2 (criar projeto, alternar projetos, interpretar dashboard, identificar risco). Como verificar: arquivo prontidao-ux.md criado em output/.../v2/ com checklist WCAG 2.2 AA por fluxo (teclado, foco, semântica, contraste, status), cobertura de estados (sucesso/vazio/loading/erro/permissão), resultado de teste de tarefa com meta de 80% de sucesso sem ajuda e medição LCP/INP/CLS no percentil 75 quando houver dados de campo; artefato datado e assinado por Úrsula Usabilidade. Sem este artefato a dimensão permanece abaixo de 4.</a:t>
            </a:r>
          </a:p>
          <a:p>
            <a:pPr>
              <a:spcAft>
                <a:spcPts val="600"/>
              </a:spcAft>
            </a:pPr>
            <a:r>
              <a:t>1.  Implementar múltiplos projetos e nome dinâmico do Gantt — Nota UX/UI 3 (tarefa principal). Onde: G2 (plano-lancamento.md:98) e RAID (plano-lancamento.md:123-124). Como verificar: criar e nomear mais de um projeto, alternar entre projetos sem perda durante a sessão e conferir que o cabeçalho do Gantt exibe o nome do projeto selecionado (remover o nome hardcoded Mockup); reprodução manual registrada com data e resultado.</a:t>
            </a:r>
          </a:p>
          <a:p>
            <a:pPr>
              <a:spcAft>
                <a:spcPts val="600"/>
              </a:spcAft>
            </a:pPr>
            <a:r>
              <a:t>1.  Nomear owners de operação e instrumentação — Nota Operação 2. Onde: workstreams (plano-lancamento.md:64-65) e dependências do RAID (plano-lancamento.md:128-129). Como verificar: os campos "a designar" são substituídos por nome e prazo concretos; definidos canal de suporte, SLA e escalonamento; evento de ativação especificado e verificado ponta a ponta; responsável por incidentes nomeado.</a:t>
            </a:r>
          </a:p>
          <a:p>
            <a:pPr>
              <a:spcAft>
                <a:spcPts val="600"/>
              </a:spcAft>
            </a:pPr>
            <a:r>
              <a:t>1.  Produzir evidência de pesquisa e instrumentação real — Nota Evidência 3. Onde: meta "10 entrevistas qualificadas" (plano-lancamento.md:41) e dependência de analytics (plano-lancamento.md:128). Como verificar: registro de entrevistas com data, perfil e descoberta de cada uma; dashboard de funil com eventos confirmados e fonte/período visíveis antes de qualquer declaração de mensagem vencedora.</a:t>
            </a:r>
          </a:p>
          <a:p>
            <a:pPr>
              <a:spcAft>
                <a:spcPts val="600"/>
              </a:spcAft>
            </a:pPr>
            <a:r>
              <a:t>1.  Reavaliar o escopo de prontidão com a nova prioridade do sponsor — Onde: prioridades-aprovadas.md:9-18. A página de acompanhamento de atividades (alocação por profissional, projeto e atividade) muda o escopo de G2. Como verificar: especificação da página aprovada pelo sponsor antes de implementação e gates/roadmap do plano atualizados refletindo o novo escopo.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Sugestões não bloqueantes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Definir a média de referência da conta para o guardrail "cliques ≥ 2× média" do experimento 2 antes de medir (campanha-lancamento.md:116).</a:t>
            </a:r>
          </a:p>
          <a:p>
            <a:pPr>
              <a:spcAft>
                <a:spcPts val="600"/>
              </a:spcAft>
            </a:pPr>
            <a:r>
              <a:t>•  Preencher os campos de desqualificação e gatilho da hipótese 2 quando ela for ativada por acesso a entrevistas (campanha-lancamento.md:21-23).</a:t>
            </a:r>
          </a:p>
          <a:p>
            <a:pPr>
              <a:spcAft>
                <a:spcPts val="600"/>
              </a:spcAft>
            </a:pPr>
            <a:r>
              <a:t>•  Definir o formato do registro de "decisão antecipada documentada" que servirá de prova de valor do piloto (campanha-lancamento.md:30).</a:t>
            </a:r>
          </a:p>
          <a:p>
            <a:pPr>
              <a:spcAft>
                <a:spcPts val="600"/>
              </a:spcAft>
            </a:pPr>
            <a:r>
              <a:t>•  Registrar a decisão de pular a etapa 02 no decision log do plano de lançamento, para que o rastro de decisão fique em um único artefato (plano-lancamento.md:141-147).</a:t>
            </a:r>
          </a:p>
          <a:p>
            <a:pPr>
              <a:spcAft>
                <a:spcPts val="600"/>
              </a:spcAft>
            </a:pPr>
            <a:r>
              <a:t>•  Adicionar UTM/link de rastreio ao CTA-pergunta do LinkedIn para tornar a conversa qualificada mensurável por canal (campanha-lancamento.md:66).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Gatilhos de veto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Gatilho acionado (veto automático): critérios abaixo de 4 — UX/UI = 3, Evidência = 3 e Operação = 2. A rubrica manda rejeitar independentemente da média.</a:t>
            </a:r>
          </a:p>
          <a:p>
            <a:pPr>
              <a:spcAft>
                <a:spcPts val="600"/>
              </a:spcAft>
            </a:pPr>
            <a:r>
              <a:t>•  Gatilho em risco (aberto para G3): lançamento sem suporte, instrumentação ou responsável por incidentes — todos os três seguem sem owner nomeado. Qualquer tentativa de autorizar G3 antes da alteração obrigatória 3 reincide o veto.</a:t>
            </a:r>
          </a:p>
          <a:p>
            <a:pPr>
              <a:spcAft>
                <a:spcPts val="600"/>
              </a:spcAft>
            </a:pPr>
            <a:r>
              <a:t>•  Gatilhos NÃO acionados (verificado): não há número inventado, fonte ausente, mockup apresentado como resultado real, nem promessa pública incompatível com o produto — a campanha rotula mockups e não promete resultados garantidos.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Caminho para aprovação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Reaprovação exige, nesta ordem:</a:t>
            </a:r>
          </a:p>
          <a:p>
            <a:pPr>
              <a:spcAft>
                <a:spcPts val="600"/>
              </a:spcAft>
            </a:pPr>
            <a:r>
              <a:t>1.  prontidao-ux.md criado com auditoria real da etapa 02 e correções de múltiplos projetos + Gantt dinâmico verificadas (UX/UI ≥ 4 e G2 liberável).</a:t>
            </a:r>
          </a:p>
          <a:p>
            <a:pPr>
              <a:spcAft>
                <a:spcPts val="600"/>
              </a:spcAft>
            </a:pPr>
            <a:r>
              <a:t>1.  Owners de suporte, analytics e incidentes nomeados com SLA e prazo (Operação ≥ 4 e gatilho de G3 fechado).</a:t>
            </a:r>
          </a:p>
          <a:p>
            <a:pPr>
              <a:spcAft>
                <a:spcPts val="600"/>
              </a:spcAft>
            </a:pPr>
            <a:r>
              <a:t>1.  10 entrevistas qualificadas e dashboard de funil instrumentado (Evidência ≥ 4).</a:t>
            </a:r>
          </a:p>
          <a:p>
            <a:pPr>
              <a:spcAft>
                <a:spcPts val="600"/>
              </a:spcAft>
            </a:pPr>
            <a:r>
              <a:t>1.  Especificação da página de acompanhamento de atividades aprovada e escopo de G2 reavaliado.</a:t>
            </a:r>
          </a:p>
          <a:p>
            <a:pPr>
              <a:spcAft>
                <a:spcPts val="600"/>
              </a:spcAft>
            </a:pPr>
            <a:r>
              <a:t>•  Com esses quatro itens, a nota mínima plausível das dimensões bloqueadas sobe para ~5 e a média pode atingir ≥ 7, permitindo CONDITIONAL GO para piloto fechado; GO para lançamento público segue exigindo G1, G2 e G3 aprovados com revisão independente sem veto.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Próxima decisão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Gate: G2 — Produto pronto para piloto (plano-lancamento.md:96-102), precedido pela auditoria UX/UI da etapa 02 e pela reavaliação de prontidão com a nova página de acompanhamento de atividades. Decisor: Ronaldo Mazuhim. Decisão esperada: aprovar as alterações obrigatórias 1 a 5, nomear owners e reagendar o checkpoint com o artefato prontidao-ux.md em mãos. Esta revisão será a 2 de 3 no próximo ciclo.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