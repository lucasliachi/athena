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723d3883eb4ba8" /><Relationship Type="http://schemas.openxmlformats.org/officeDocument/2006/relationships/extended-properties" Target="/docProps/app.xml" Id="R8f3113a1f25d4592" /><Relationship Type="http://schemas.openxmlformats.org/officeDocument/2006/relationships/officeDocument" Target="/ppt/presentation.xml" Id="Ra8e29a1916f04b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8ce4e5110a48d1"/>
  </p:sldMasterIdLst>
  <p:notesMasterIdLst>
    <p:notesMasterId xmlns:r="http://schemas.openxmlformats.org/officeDocument/2006/relationships" r:id="Reb5cb05747364082"/>
  </p:notesMasterIdLst>
  <p:sldIdLst>
    <p:sldId xmlns:r="http://schemas.openxmlformats.org/officeDocument/2006/relationships" id="256" r:id="Rdf87a1361aa842d0"/>
    <p:sldId xmlns:r="http://schemas.openxmlformats.org/officeDocument/2006/relationships" id="257" r:id="R36288dcc538e4d5f"/>
    <p:sldId xmlns:r="http://schemas.openxmlformats.org/officeDocument/2006/relationships" id="258" r:id="R5859f5a2fcab4316"/>
    <p:sldId xmlns:r="http://schemas.openxmlformats.org/officeDocument/2006/relationships" id="259" r:id="R07b70b86b2a34b6f"/>
    <p:sldId xmlns:r="http://schemas.openxmlformats.org/officeDocument/2006/relationships" id="260" r:id="Rd2b5155f7be24857"/>
    <p:sldId xmlns:r="http://schemas.openxmlformats.org/officeDocument/2006/relationships" id="261" r:id="Rd09321777ca4460b"/>
    <p:sldId xmlns:r="http://schemas.openxmlformats.org/officeDocument/2006/relationships" id="262" r:id="R59370d42b3b8497e"/>
    <p:sldId xmlns:r="http://schemas.openxmlformats.org/officeDocument/2006/relationships" id="263" r:id="Raaf6f1cd7d404b3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961e2d8bfa4355" /><Relationship Type="http://schemas.openxmlformats.org/officeDocument/2006/relationships/slideMaster" Target="/ppt/slideMasters/slideMaster1.xml" Id="Re48ce4e5110a48d1" /><Relationship Type="http://schemas.openxmlformats.org/officeDocument/2006/relationships/notesMaster" Target="/ppt/notesMasters/notesMaster1.xml" Id="Reb5cb05747364082" /><Relationship Type="http://schemas.openxmlformats.org/officeDocument/2006/relationships/presProps" Target="/ppt/presProps.xml" Id="Rd8685ae55db5439b" /><Relationship Type="http://schemas.openxmlformats.org/officeDocument/2006/relationships/tableStyles" Target="/ppt/tableStyles.xml" Id="R1b5492afb0b44a10" /><Relationship Type="http://schemas.openxmlformats.org/officeDocument/2006/relationships/slide" Target="/ppt/slides/slide1.xml" Id="Rdf87a1361aa842d0" /><Relationship Type="http://schemas.openxmlformats.org/officeDocument/2006/relationships/slide" Target="/ppt/slides/slide2.xml" Id="R36288dcc538e4d5f" /><Relationship Type="http://schemas.openxmlformats.org/officeDocument/2006/relationships/slide" Target="/ppt/slides/slide3.xml" Id="R5859f5a2fcab4316" /><Relationship Type="http://schemas.openxmlformats.org/officeDocument/2006/relationships/slide" Target="/ppt/slides/slide4.xml" Id="R07b70b86b2a34b6f" /><Relationship Type="http://schemas.openxmlformats.org/officeDocument/2006/relationships/slide" Target="/ppt/slides/slide5.xml" Id="Rd2b5155f7be24857" /><Relationship Type="http://schemas.openxmlformats.org/officeDocument/2006/relationships/slide" Target="/ppt/slides/slide6.xml" Id="Rd09321777ca4460b" /><Relationship Type="http://schemas.openxmlformats.org/officeDocument/2006/relationships/slide" Target="/ppt/slides/slide7.xml" Id="R59370d42b3b8497e" /><Relationship Type="http://schemas.openxmlformats.org/officeDocument/2006/relationships/slide" Target="/ppt/slides/slide8.xml" Id="Raaf6f1cd7d404b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a334502bfb44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ProjectFlow">
      <a:dk1>
        <a:srgbClr val="000000"/>
      </a:dk1>
      <a:lt1>
        <a:srgbClr val="FFFFFF"/>
      </a:lt1>
      <a:dk2>
        <a:srgbClr val="111318"/>
      </a:dk2>
      <a:lt2>
        <a:srgbClr val="F0F1F3"/>
      </a:lt2>
      <a:accent1>
        <a:srgbClr val="6D5BD0"/>
      </a:accent1>
      <a:accent2>
        <a:srgbClr val="3D8DFF"/>
      </a:accent2>
      <a:accent3>
        <a:srgbClr val="20A464"/>
      </a:accent3>
      <a:accent4>
        <a:srgbClr val="E19A22"/>
      </a:accent4>
      <a:accent5>
        <a:srgbClr val="D94B4B"/>
      </a:accent5>
      <a:accent6>
        <a:srgbClr val="8892A0"/>
      </a:accent6>
      <a:hlink>
        <a:srgbClr val="3D8DFF"/>
      </a:hlink>
      <a:folHlink>
        <a:srgbClr val="6D5BD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rojectFlo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fde5e541874f1a" /><Relationship Type="http://schemas.openxmlformats.org/officeDocument/2006/relationships/notesMaster" Target="/ppt/notesMasters/notesMaster1.xml" Id="R7f7eb0c5ca834e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8456bca02649b7" /><Relationship Type="http://schemas.openxmlformats.org/officeDocument/2006/relationships/notesMaster" Target="/ppt/notesMasters/notesMaster1.xml" Id="R54dc7a351f064b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34673e0f6c40b6" /><Relationship Type="http://schemas.openxmlformats.org/officeDocument/2006/relationships/notesMaster" Target="/ppt/notesMasters/notesMaster1.xml" Id="Rb31995652cfc48b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495c193b274891" /><Relationship Type="http://schemas.openxmlformats.org/officeDocument/2006/relationships/notesMaster" Target="/ppt/notesMasters/notesMaster1.xml" Id="R5c5be1e604e643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4300d1756324a04" /><Relationship Type="http://schemas.openxmlformats.org/officeDocument/2006/relationships/notesMaster" Target="/ppt/notesMasters/notesMaster1.xml" Id="R785ad5dc422a47c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1cd0a2d5a1148b5" /><Relationship Type="http://schemas.openxmlformats.org/officeDocument/2006/relationships/notesMaster" Target="/ppt/notesMasters/notesMaster1.xml" Id="R6c291b045a8a40e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e0382b036041fb" /><Relationship Type="http://schemas.openxmlformats.org/officeDocument/2006/relationships/notesMaster" Target="/ppt/notesMasters/notesMaster1.xml" Id="R7d2a057f3abc4f0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252715ecfda43e9" /><Relationship Type="http://schemas.openxmlformats.org/officeDocument/2006/relationships/notesMaster" Target="/ppt/notesMasters/notesMaster1.xml" Id="Rca78a92d626140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docs/superpowers/specs/2026-08-06-landing-experimentacao-design.md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src/pages/Landing.tsx</a:t>
            </a:r>
          </a:p>
          <a:p xmlns:a="http://schemas.openxmlformats.org/drawingml/2006/main">
            <a:r>
              <a:t>- docs/superpowers/specs/2026-08-06-landing-experimentacao-design.md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src/pages/Landing.tsx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docs/superpowers/specs/2026-08-06-landing-experimentacao-design.md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src/pages/Landing.tsx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src/App.tsx</a:t>
            </a:r>
          </a:p>
          <a:p xmlns:a="http://schemas.openxmlformats.org/drawingml/2006/main">
            <a:r>
              <a:t>- src/pages/Landing.tsx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src/pages/Landing.test.tsx</a:t>
            </a:r>
          </a:p>
          <a:p xmlns:a="http://schemas.openxmlformats.org/drawingml/2006/main">
            <a:r>
              <a:t>- Commit aaf67f9 — feat: focus landing page on product experimentation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docs/superpowers/specs/2026-08-06-landing-experimentacao-design.md</a:t>
            </a:r>
          </a:p>
          <a:p xmlns:a="http://schemas.openxmlformats.org/drawingml/2006/main">
            <a:r>
              <a:t>- src/pages/Landing.tsx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49f7425eb04a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d460f52c46487e" /><Relationship Type="http://schemas.openxmlformats.org/officeDocument/2006/relationships/slideLayout" Target="/ppt/slideLayouts/slideLayout1.xml" Id="R109cd2f363424c7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9cd2f363424c7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ProjectFlow">
      <a:dk1>
        <a:srgbClr val="000000"/>
      </a:dk1>
      <a:lt1>
        <a:srgbClr val="FFFFFF"/>
      </a:lt1>
      <a:dk2>
        <a:srgbClr val="111318"/>
      </a:dk2>
      <a:lt2>
        <a:srgbClr val="F0F1F3"/>
      </a:lt2>
      <a:accent1>
        <a:srgbClr val="6D5BD0"/>
      </a:accent1>
      <a:accent2>
        <a:srgbClr val="3D8DFF"/>
      </a:accent2>
      <a:accent3>
        <a:srgbClr val="20A464"/>
      </a:accent3>
      <a:accent4>
        <a:srgbClr val="E19A22"/>
      </a:accent4>
      <a:accent5>
        <a:srgbClr val="D94B4B"/>
      </a:accent5>
      <a:accent6>
        <a:srgbClr val="8892A0"/>
      </a:accent6>
      <a:hlink>
        <a:srgbClr val="3D8DFF"/>
      </a:hlink>
      <a:folHlink>
        <a:srgbClr val="6D5BD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rojectFlo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39b75f30b343f9" /><Relationship Type="http://schemas.openxmlformats.org/officeDocument/2006/relationships/notesSlide" Target="/ppt/notesSlides/notesSlide1.xml" Id="R139ea5e3218343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92f37333714115" /><Relationship Type="http://schemas.openxmlformats.org/officeDocument/2006/relationships/notesSlide" Target="/ppt/notesSlides/notesSlide2.xml" Id="R47f8cf09b5cc426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9a39e796d14b10" /><Relationship Type="http://schemas.openxmlformats.org/officeDocument/2006/relationships/notesSlide" Target="/ppt/notesSlides/notesSlide3.xml" Id="R6747d6b384744fa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5694811eac4098" /><Relationship Type="http://schemas.openxmlformats.org/officeDocument/2006/relationships/notesSlide" Target="/ppt/notesSlides/notesSlide4.xml" Id="Raec38d7392ea4c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1e6ddced524b70" /><Relationship Type="http://schemas.openxmlformats.org/officeDocument/2006/relationships/notesSlide" Target="/ppt/notesSlides/notesSlide5.xml" Id="R1df57a327ccb453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d8b473af4e4622" /><Relationship Type="http://schemas.openxmlformats.org/officeDocument/2006/relationships/notesSlide" Target="/ppt/notesSlides/notesSlide6.xml" Id="Ra25fec89b639405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200bd9e572491f" /><Relationship Type="http://schemas.openxmlformats.org/officeDocument/2006/relationships/notesSlide" Target="/ppt/notesSlides/notesSlide7.xml" Id="R3a3134eb8dc149a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ee8f9f4b724f38" /><Relationship Type="http://schemas.openxmlformats.org/officeDocument/2006/relationships/notesSlide" Target="/ppt/notesSlides/notesSlide8.xml" Id="R671a9cb426c940e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17D108-19B4-4A9D-9AD0-CE612917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D5BD0"/>
                </a:solidFill>
                <a:latin typeface="Arial"/>
                <a:ea typeface="Arial"/>
                <a:cs typeface="Arial"/>
              </a:rPr>
              <a:t>PROJECTFLOW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7CD0C0-0088-4F14-9155-CD5AAC8F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8382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Nova landing de</a:t>
            </a:r>
          </a:p>
          <a:p xmlns:a="http://schemas.openxmlformats.org/drawingml/2006/main">
            <a:pPr algn="l">
              <a:defRPr sz="51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experimentação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D5AD60-EEC8-4AE5-BE70-C2FFBF1A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Documentação funcional · experiência, arquitetura e validação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70140D-CDE9-495E-A8BF-16643710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0050"/>
            <a:ext cx="16954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6D5B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B21372-8843-4B22-9E7C-9BF9B1D8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742950"/>
            <a:ext cx="1695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05A53A-5CEA-4B81-B1B2-8A1DB132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6191250"/>
            <a:ext cx="18383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6672"/>
                </a:solidFill>
                <a:latin typeface="Arial"/>
                <a:ea typeface="Arial"/>
                <a:cs typeface="Arial"/>
              </a:rPr>
              <a:t>06 AGO 2026</a:t>
            </a:r>
          </a:p>
        </p:txBody>
      </p:sp>
    </p:spTree>
    <p:extLst>
      <p:ext uri="{BB962C8B-B14F-4D97-AF65-F5344CB8AC3E}">
        <p14:creationId xmlns:p14="http://schemas.microsoft.com/office/powerpoint/2010/main" val="10329454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2B0090-0F6D-4B1B-9C89-DEB4E4D3E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D5BD0"/>
                </a:solidFill>
                <a:latin typeface="Arial"/>
                <a:ea typeface="Arial"/>
                <a:cs typeface="Arial"/>
              </a:rPr>
              <a:t>PROJECTFLOW · DOCUMENTAÇÃO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FC7890-3D18-4CB2-A282-1BC559D6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057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A experiência deixou de vender antes de demonstrar valor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C5A2B9-22EC-4121-814F-2ED181CC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E392EE-6DBA-4924-8DDE-372264635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1912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E2A922-E300-42B1-A0F1-C568D55FA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4B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4B4B"/>
                </a:solidFill>
                <a:latin typeface="Arial"/>
                <a:ea typeface="Arial"/>
                <a:cs typeface="Arial"/>
              </a:rPr>
              <a:t>ANTES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4121ED-77DB-4222-B53C-D4E3E9D9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907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A46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A464"/>
                </a:solidFill>
                <a:latin typeface="Arial"/>
                <a:ea typeface="Arial"/>
                <a:cs typeface="Arial"/>
              </a:rPr>
              <a:t>AGORA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8DD5FA-5816-4E6A-95D1-F359CAD62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4972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solidFill>
              <a:srgbClr val="F0F1F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E5BF21-EFAC-4648-837E-58BFD1E8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09800"/>
            <a:ext cx="4972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solidFill>
              <a:srgbClr val="EAF6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C6A077-6CCC-421D-BDBD-55EDC8C4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4095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Preço e checkout</a:t>
            </a:r>
          </a:p>
          <a:p xmlns:a="http://schemas.openxmlformats.org/drawingml/2006/main">
            <a:pPr algn="l">
              <a:defRPr sz="2100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Oferta com urgência</a:t>
            </a:r>
          </a:p>
          <a:p xmlns:a="http://schemas.openxmlformats.org/drawingml/2006/main">
            <a:pPr algn="l">
              <a:defRPr sz="2100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Cadastro obrigatório</a:t>
            </a:r>
          </a:p>
          <a:p xmlns:a="http://schemas.openxmlformats.org/drawingml/2006/main">
            <a:pPr algn="l">
              <a:defRPr sz="2100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Benefícios genéricos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D43D0B-A439-4ADB-853B-0C602398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71750"/>
            <a:ext cx="4095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Experimentação direta</a:t>
            </a:r>
          </a:p>
          <a:p xmlns:a="http://schemas.openxmlformats.org/drawingml/2006/main">
            <a:pPr algn="l">
              <a:defRPr sz="21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Valor executivo primeiro</a:t>
            </a:r>
          </a:p>
          <a:p xmlns:a="http://schemas.openxmlformats.org/drawingml/2006/main">
            <a:pPr algn="l">
              <a:defRPr sz="21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Sem barreiras de entrada</a:t>
            </a:r>
          </a:p>
          <a:p xmlns:a="http://schemas.openxmlformats.org/drawingml/2006/main">
            <a:pPr algn="l">
              <a:defRPr sz="21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Benefícios comprováveis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D28011-BE2F-481E-AF39-E5C49867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D5BD0"/>
                </a:solidFill>
                <a:latin typeface="Arial"/>
                <a:ea typeface="Arial"/>
                <a:cs typeface="Arial"/>
              </a:rPr>
              <a:t>Mudança central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F3DC39-61E7-40E1-A9D4-EA64212E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7150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Todos os caminhos relevantes levam ao dashboard.</a:t>
            </a:r>
          </a:p>
        </p:txBody>
      </p:sp>
    </p:spTree>
    <p:extLst>
      <p:ext uri="{BB962C8B-B14F-4D97-AF65-F5344CB8AC3E}">
        <p14:creationId xmlns:p14="http://schemas.microsoft.com/office/powerpoint/2010/main" val="19647377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4E5A53-98C0-4B41-BF43-7432C4EA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D5BD0"/>
                </a:solidFill>
                <a:latin typeface="Arial"/>
                <a:ea typeface="Arial"/>
                <a:cs typeface="Arial"/>
              </a:rPr>
              <a:t>PROJECTFLOW · DOCUMENTAÇÃO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F120CE-AA41-401B-84E2-FB400CCF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057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O visitante chega ao produto em três decisões simples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5168B9-31EE-47CB-87A6-C678559E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4D86C3-EAD1-4E45-95C3-F4E3C806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1912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A6EA58-8AF8-4E61-878E-3A80C4A86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90875"/>
            <a:ext cx="10429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CD1661-1B93-45A6-BE24-EF5973C1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11131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BCFB7C-0F40-4910-90E0-53C1859C5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5BD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60849B-B169-46A4-A05C-CDED7A99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Entenda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5579C0-2C1F-4153-B569-018B8AF6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A mensagem conecta prazo, risco, progresso e alocação.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BC4CF3-6AE0-4D6E-AAB8-AC6C57648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670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11131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6DACEF-EE5B-4023-B505-5DD9B9F5A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384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5BD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7EAC02-2E81-4AC0-B92E-024D7C4E5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385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Confie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BF3D9A-9F08-46CF-B70D-8890256E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71950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A prévia demonstra a leitura executiva do ProjectFlow.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8B7629-9808-435A-9031-11F94A41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670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6D5BD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37D8AB-A043-4A0D-AACA-696A7067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5BD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6485C0-5992-41C1-818F-9D1A8BB60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385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Experimente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2CB900-67D0-4226-BED2-FFD2C54F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71950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O CTA abre /dashboard imediatamente, sem cadastro.</a:t>
            </a:r>
          </a:p>
        </p:txBody>
      </p:sp>
    </p:spTree>
    <p:extLst>
      <p:ext uri="{BB962C8B-B14F-4D97-AF65-F5344CB8AC3E}">
        <p14:creationId xmlns:p14="http://schemas.microsoft.com/office/powerpoint/2010/main" val="11555830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AAF13A-E6FD-4547-AC24-2BEFD3BB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D5BD0"/>
                </a:solidFill>
                <a:latin typeface="Arial"/>
                <a:ea typeface="Arial"/>
                <a:cs typeface="Arial"/>
              </a:rPr>
              <a:t>PROJECTFLOW · DOCUMENTAÇÃO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C1E32A-A135-4CFB-9F00-4643D7C8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057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Quatro benefícios sustentam a proposta de valor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BBDFE6-B08A-41B5-AE68-2E6D6FA7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F554A7-A3AD-4D73-B142-667B816C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1912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B9A566-3BC5-4874-A546-B6E2C067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669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5BD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410094-8452-414F-8F4D-D80F4DC5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478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Previsibilidade do portfólio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5A4A1B-8DF9-4A60-B331-5231E4A7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38400"/>
            <a:ext cx="476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Progresso, marcos e próximas entregas em uma única leitura.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DAC265-7016-4B42-A88C-3FD2768BE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669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5BD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D98D45-A739-46CE-90CA-5990169D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8478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Riscos antecipados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9D6190-CB6E-4640-B93A-E9C7412A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38400"/>
            <a:ext cx="476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Atrasos e atividades críticas aparecem antes de comprometer a entrega.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6ED20D-BD54-4318-B396-6CA4C6972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481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5BD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103712-7F52-463E-92C5-B1F7A024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2907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Alocação transparente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D01DD1-EAE1-407D-9237-7FAF08D6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19625"/>
            <a:ext cx="476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Projetos e responsabilidades ficam visíveis por profissional.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F695E1-1AFE-4EE7-ACB0-E94DC3F07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481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5BD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ADC25D-50CD-44D9-A52F-CF969502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02907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Decisões data-driven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D555B0-C40F-41A0-97D7-FC6EEDF8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619625"/>
            <a:ext cx="476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Indicadores relevantes apoiam priorização e tomada de decisão.</a:t>
            </a:r>
          </a:p>
        </p:txBody>
      </p:sp>
    </p:spTree>
    <p:extLst>
      <p:ext uri="{BB962C8B-B14F-4D97-AF65-F5344CB8AC3E}">
        <p14:creationId xmlns:p14="http://schemas.microsoft.com/office/powerpoint/2010/main" val="5185234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F0E444-D712-44FC-B2BB-CEC1B7BA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D5BD0"/>
                </a:solidFill>
                <a:latin typeface="Arial"/>
                <a:ea typeface="Arial"/>
                <a:cs typeface="Arial"/>
              </a:rPr>
              <a:t>PROJECTFLOW · DOCUMENTAÇÃO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CC4C5C-49FD-4662-8DEF-19AFF47C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057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A página transforma a narrativa em uma sequência visual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2564DC-2D0F-4B36-8F10-0BD12CCB2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CC0AE9-CA25-4CAD-9C2A-F4CCDD5D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1912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86071A-24A5-4C09-A871-81DC9D6C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857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11131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39DE3D-E33A-4B22-B529-E98F859F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2880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4AD953-6DE3-4F3D-9CEC-A676B27AF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907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Cabeçalho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3E7AEF-D829-4E92-AA46-D6F5E0EB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0022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Marca, âncoras e entrada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B6ACCA-6C47-47F4-8063-A7C11A4D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38125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5EEE86-22E8-4011-B16E-8E70EFA6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52700"/>
            <a:ext cx="857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6D5B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AA32A7-6124-4E80-9D26-11697D02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2890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F1AB4F-EC83-44C6-A984-DB2846AC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5908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Hero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6382AA-6A1A-4437-A9E7-CEEDE5B5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0032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Promessa + prévia executiva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B84B5F-6EAB-4F76-A37A-4473E882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18135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D6E723-B27B-4AAF-8309-ADBD68AA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52800"/>
            <a:ext cx="857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11131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8F88CE-AEC4-4D19-8EAE-E31DCB2C7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C1A1D1-1D82-4299-B68E-A4F16616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3909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Benefícios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3962A0-7BB1-48B9-A579-8658F58A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0042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Quatro resultados de negócio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A6D97F-B61B-4D89-982F-9E05F440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98145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C49227-5C05-45DF-A1E6-1718F3A8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52900"/>
            <a:ext cx="857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11131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F054FD-CFE2-4565-8F18-2860BA4DB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2910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1E0306-BF47-459C-A281-A84FBCCB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910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Como funciona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46F9CD-6273-4AE5-8A26-82DAAD17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0052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Planeje · acompanhe · decida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C1F91E-731C-439E-B4C9-FA03C5F9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78155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E26FA-00AD-40EE-9E5B-F4D1F3BF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857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11131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9CE83A-6C07-411D-A6E1-87987CD47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2920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A3284A-8822-42E8-AC3E-576C9D1A6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9911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CTA final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A88076-E627-4351-945B-EFF730AC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0062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Experimentação sem cadastro</a:t>
            </a:r>
          </a:p>
        </p:txBody>
      </p:sp>
    </p:spTree>
    <p:extLst>
      <p:ext uri="{BB962C8B-B14F-4D97-AF65-F5344CB8AC3E}">
        <p14:creationId xmlns:p14="http://schemas.microsoft.com/office/powerpoint/2010/main" val="5847907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B6CE29-27BB-4428-BDC7-262B319AD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D5BD0"/>
                </a:solidFill>
                <a:latin typeface="Arial"/>
                <a:ea typeface="Arial"/>
                <a:cs typeface="Arial"/>
              </a:rPr>
              <a:t>PROJECTFLOW · DOCUMENTAÇÃO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E0AF06-1265-4D7F-ACD5-7FC119CD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057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45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A implementação permanece pequena e alinhada ao produto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0B112C-BF45-4133-BFFE-0258B84B9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8961CE-00EE-4BF7-BFB2-B482F80F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1912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D19C9B-43F1-49FA-A98A-707063CBB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42900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D5B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16CD7E-36A3-4F69-A07E-10E8A78C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2900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D5B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E66C18-2BF2-4612-9B4B-F2A071A19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2900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D5B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AFD833-E6C2-4092-9183-B18C74E9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C4C8C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0E462D-21EC-4692-880D-D588FFDA9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3370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Rota /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AA37A6-17AD-4043-B006-2359BD9C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9950"/>
            <a:ext cx="2038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App.tsx mantém o ponto de entrada público.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CF59C0-E6C1-4419-BBF4-2867348D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2415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6FA"/>
          </a:solidFill>
          <a:ln xmlns:a="http://schemas.openxmlformats.org/drawingml/2006/main" w="9525">
            <a:solidFill>
              <a:srgbClr val="6D5B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407845-A914-42D0-BEBB-A8932C0B9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3370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Landing.tsx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22D1BF-72B7-4223-8F71-5D2D0B77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409950"/>
            <a:ext cx="2038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Conteúdo, layout e dados locais de apresentação.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34555A-45AC-48EB-B34E-5FC269282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2415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C4C8C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B25CE7-5A6D-445B-8294-3E85263B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3370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React Router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29B1AA-00F3-4D4B-A003-3F587AAC0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409950"/>
            <a:ext cx="2038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Links internos para /dashboard e âncoras.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E62CEA-C463-4415-906B-A8D8CBEC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24150"/>
            <a:ext cx="171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C4C8C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DFE334-7335-4257-ABBB-7E574ADCE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93370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Dashboard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166EF2-2CB7-453D-BA70-EDBA0AA45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409950"/>
            <a:ext cx="1371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97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Experiência do produto sem etapa intermediária.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804354-579B-452E-B7F6-7370CEF38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530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D5BD0"/>
                </a:solidFill>
                <a:latin typeface="Arial"/>
                <a:ea typeface="Arial"/>
                <a:cs typeface="Arial"/>
              </a:rPr>
              <a:t>Sem novas dependências · sem backend · sem persistência · sem estado local</a:t>
            </a:r>
          </a:p>
        </p:txBody>
      </p:sp>
    </p:spTree>
    <p:extLst>
      <p:ext uri="{BB962C8B-B14F-4D97-AF65-F5344CB8AC3E}">
        <p14:creationId xmlns:p14="http://schemas.microsoft.com/office/powerpoint/2010/main" val="12457689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78ABD4-D9B6-402B-890C-F542F473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D5BD0"/>
                </a:solidFill>
                <a:latin typeface="Arial"/>
                <a:ea typeface="Arial"/>
                <a:cs typeface="Arial"/>
              </a:rPr>
              <a:t>PROJECTFLOW · DOCUMENTAÇÃO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94522E-41BC-464E-9342-236AEAEE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057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A entrega foi validada em comportamento e produção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63496F-F080-40D5-832E-E57508CB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0CDF46-238B-44B7-BB41-EAE14D14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1912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AD26CA-8A28-47F6-A8E4-7B7BEFB9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O contrato automatizado cobre proposta de valor, benefícios, navegação, remoção comercial e estrutura responsiva.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C7894D-F5EF-4C02-87FB-DA83AF41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35623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solidFill>
              <a:srgbClr val="F0F1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ACDB33-E841-4D5C-B245-9797A9B8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3048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6D5BD0"/>
                </a:solidFill>
                <a:latin typeface="Arial"/>
                <a:ea typeface="Arial"/>
                <a:cs typeface="Arial"/>
              </a:rPr>
              <a:t>54/54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934F65-8F24-4945-AB9C-2E41FE4A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testes da suíte aprovados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892577-4131-40F0-A8A7-AF164B07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857500"/>
            <a:ext cx="35623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solidFill>
              <a:srgbClr val="F0F1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D65F5D-057B-4EF9-95D3-67BBB7B4A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162300"/>
            <a:ext cx="3048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6D5BD0"/>
                </a:solidFill>
                <a:latin typeface="Arial"/>
                <a:ea typeface="Arial"/>
                <a:cs typeface="Arial"/>
              </a:rPr>
              <a:t>6/6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A09447-FD75-41F3-8CEE-5C47C8E7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333875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testes específicos da landing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6D9B9D-659C-40C5-950D-DB0386C6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57500"/>
            <a:ext cx="35623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solidFill>
              <a:srgbClr val="F0F1F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72E9C2-E404-403C-B54B-54644F708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62300"/>
            <a:ext cx="3048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20A464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20A46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BBF1D7-0F67-4539-8113-3A2D1770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33875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672"/>
                </a:solidFill>
                <a:latin typeface="Arial"/>
                <a:ea typeface="Arial"/>
                <a:cs typeface="Arial"/>
              </a:rPr>
              <a:t>novas dependências</a:t>
            </a:r>
          </a:p>
        </p:txBody>
      </p:sp>
    </p:spTree>
    <p:extLst>
      <p:ext uri="{BB962C8B-B14F-4D97-AF65-F5344CB8AC3E}">
        <p14:creationId xmlns:p14="http://schemas.microsoft.com/office/powerpoint/2010/main" val="8145112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1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3172E2-7DB5-4406-AD9A-C0216DEC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FA3F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FA3F0"/>
                </a:solidFill>
                <a:latin typeface="Arial"/>
                <a:ea typeface="Arial"/>
                <a:cs typeface="Arial"/>
              </a:rPr>
              <a:t>RESULTADO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BC66AC-B545-4C61-B67E-37646C523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8572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Valor primeiro.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Experimentação imediata.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EEC14D-C34E-4CBF-8D77-2C5093D1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14800"/>
            <a:ext cx="790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C8CDD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C8CDD5"/>
                </a:solidFill>
                <a:latin typeface="Arial"/>
                <a:ea typeface="Arial"/>
                <a:cs typeface="Arial"/>
              </a:rPr>
              <a:t>A nova landing documenta o benefício, demonstra a experiência e reduz a distância até o dashboard.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29BAF4-04F3-48E2-A2FA-9FA9EAB23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476750"/>
            <a:ext cx="18859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6D5B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2C2268-89A2-4409-8432-63D82902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810125"/>
            <a:ext cx="165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/dashboard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3CDDC4-272C-48B8-9D51-39A89B3F4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5312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7AFBA"/>
                </a:solidFill>
                <a:latin typeface="Arial"/>
                <a:ea typeface="Arial"/>
                <a:cs typeface="Arial"/>
              </a:rPr>
              <a:t>Próximo passo recomendado: acompanhar cliques nos CTAs quando houver analytics.</a:t>
            </a:r>
          </a:p>
        </p:txBody>
      </p:sp>
    </p:spTree>
    <p:extLst>
      <p:ext uri="{BB962C8B-B14F-4D97-AF65-F5344CB8AC3E}">
        <p14:creationId xmlns:p14="http://schemas.microsoft.com/office/powerpoint/2010/main" val="764654254"/>
      </p:ext>
    </p:extLst>
  </p:cSld>
</p:sld>
</file>

<file path=ppt/theme/theme1.xml><?xml version="1.0" encoding="utf-8"?>
<a:theme xmlns:a="http://schemas.openxmlformats.org/drawingml/2006/main" name="ChatGPT">
  <a:themeElements>
    <a:clrScheme name="ProjectFlow">
      <a:dk1>
        <a:srgbClr val="000000"/>
      </a:dk1>
      <a:lt1>
        <a:srgbClr val="FFFFFF"/>
      </a:lt1>
      <a:dk2>
        <a:srgbClr val="111318"/>
      </a:dk2>
      <a:lt2>
        <a:srgbClr val="F0F1F3"/>
      </a:lt2>
      <a:accent1>
        <a:srgbClr val="6D5BD0"/>
      </a:accent1>
      <a:accent2>
        <a:srgbClr val="3D8DFF"/>
      </a:accent2>
      <a:accent3>
        <a:srgbClr val="20A464"/>
      </a:accent3>
      <a:accent4>
        <a:srgbClr val="E19A22"/>
      </a:accent4>
      <a:accent5>
        <a:srgbClr val="D94B4B"/>
      </a:accent5>
      <a:accent6>
        <a:srgbClr val="8892A0"/>
      </a:accent6>
      <a:hlink>
        <a:srgbClr val="3D8DFF"/>
      </a:hlink>
      <a:folHlink>
        <a:srgbClr val="6D5BD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rojectFlo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2026-08-06T11:14:46.6100000Z</dcterms:created>
  <dcterms:modified xsi:type="dcterms:W3CDTF">2026-08-06T11:14:46.6100000Z</dcterms:modified>
</coreProperties>
</file>